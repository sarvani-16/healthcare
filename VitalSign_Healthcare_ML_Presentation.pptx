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mentors. Welcome to the presentation of our Machine Learning PBL project titled VitalSign: AI-Based 30-Day Hospital Readmission Prediction System. Our project analyzes 50,000 diabetic patient encounters from the UCI 130-US Hospitals dataset to predict whether a patient will face unplanned hospital readmission within 30 days. We have implemented the complete end-to-end machine learning system lifecycle fulfilling Course Outcomes CO1, CO2, and CO3 across four modular stages, complete with a deployed Flask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establish the core healthcare problem. Diabetic patients are frequently readmitted within 30 days of hospital discharge. In our actual 50,000 patient dataset, only 11.49% of patients are readmitted within 30 days. This creates a severe class imbalance challenge. Clinicians must review dozens of laboratory values and medication changes manually. Our system automates this risk stratification, transforming 50 raw clinical features into an actionable readmission risk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maps our project directly to the college curriculum and course outcomes. Module 1 covers comprehensive dataset ingestion and EDA. Module 2 satisfies CO2 by implementing linear models, regularization, bias-variance analysis, and logistic regression. Module 3 fulfills CO3 by training Decision Trees, Random Forests, and AdaBoost, followed by empirical model selection. Module 4 explores unsupervised clustering including K-Means, DBSCAN, Hierarchical clustering, and PCA. Finally, CO1 is demonstrated through our complete lifecycle architecture, prediction trace, and Flask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exact properties of our dataset. We are using the verified 50,000-row subset of the UCI Diabetes dataset. There are 50 raw features. We audited all missing values and found 188,908 missing cells, which were represented by question mark characters. Our positive target is readmission within 30 days, which accounts for 5,743 encounters or 11.49%. We also intentionally excluded non-predictive tracking identifiers like encounter ID, and extreme-sparsity columns like weight, which had over 96% missing values.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directly demonstrates Course Outcome CO1 by showcasing the complete 8-stage production machine learning lifecycle. Stage 1 starts with raw data ingestion. In Stage 2, question marks are cleaned and uninformative columns removed. Stage 3 encapsulates feature transformations inside scikit-learn ColumnTransformers to guarantee zero data leakage. In Stage 4, an 80/20 stratified split preserves the 11.49% class ratio. Stages 5 and 6 train and evaluate candidate algorithms on a pure 10,000-record test set. Finally, Stages 7 and 8 serialize the winning Champion pipeline with Joblib and deploy it to Flask for live inference.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describe our actual data preprocessing pipeline implemented in final_preprocess_M2.py. A critical engineering decision was handling the diagnostic code columns diag_1, diag_2, and diag_3. Because ICD-9 codes have thousands of distinct categories, naive one-hot encoding expands the feature matrix to nearly 2,000 sparse columns, causing severe memory bottlenecks. By dropping high-cardinality diagnosis codes and uninformative identifiers, we reduced the dimensionality to 104 clean transformed features. All transformers were fitted strictly on training data to prevent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our empirical findings from exploratory data analysis. On the right is our actual correlation heatmap generated by Correlation_Matrix_heatmap_boxplots_M1.py. The single strongest predictor of 30-day readmission is number_inpatient—the count of prior inpatient hospitalizations—with a correlation of plus 0.162. We also discovered that laboratory test volume and medication counts increase linearly with length of hospital stay. This confirms that diabetic patients with high hospitalization frequencies and multiple comorbidities represent the core risk cohort.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8, we satisfy the academic requirement to compare diverse feature engineering techniques. We implemented independent scripts for Label Encoding, One-Hot Encoding, Ordinal Encoding, Target Encoding, and Feature Scaling. For example, ordinal encoding preserves the age hierarchy from 0 to 9, while target encoding calculates class probabilities per demographic group strictly on train data. For our deployed production pipeline, we chose ColumnTransformer with One-Hot Encoding and StandardScaler because it prevents synthetic distance assumptions and eliminates target leakage.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Course Outcome CO2. It is mathematically incorrect to apply linear regression to a binary classification target like readmission. Therefore, we formulated an appropriate continuous clinical prediction problem: predicting hospital length of stay (time_in_hospital). We compared Ordinary Least Squares closed-form normal equations against Stochastic Gradient Descent, proving numerical equivalence. We then evaluated L2 Ridge, L1 Lasso, and Elastic Net regularization. On the right, our bias-variance plot demonstrates how increasing model complexity from depth 1 to unconstrained depth leads to extreme overfitting, where training F1 hits 0.97 while test F1 collapses to 0.15.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evaluate our Binary Logistic Regression classifier on the holdout test set of 10,000 patients. Without class weighting, a model predicting only zero achieves 88.5% accuracy but zero percent clinical recall. By enforcing balanced class weights, our Logistic Regression model achieves 54.13% recall and an ROC-AUC of 0.6539. The confusion matrix on the right shows that out of 1,149 true readmitted patients in the test set, 622 were correctly flagged for early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addresses the multiclass requirement under CO2. The original dataset has three categories: NO, greater than 30 days, and less than 30 days. We implemented multinomial softmax regression to predict all three classes simultaneously, achieving 57.00% overall accuracy and a macro F1 of 0.3570. However, in hospital quality management, clinical intervention is focused strictly on preventing readmission within 30 days. Therefore, our primary deployment model is the binary classifier.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covers tree-based supervised learning models fulfilling Course Outcome CO3. We tested single Decision Trees across depths 3 through unconstrained. Depth 10 yielded the best balance before overfitting. We then trained a Random Forest with 100 trees, which reduced variance dramatically. Finally, we trained AdaBoost with 50 estimators. While AdaBoost achieved 88.47% accuracy, its recall dropped to under 1% because it biased entirely toward the majority class. On the right, Random Forest feature importance confirms that number_inpatient, time_in_hospital, and lab procedures are the most influential clinical split variables.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is our primary benchmark and model selection slide. All four models were evaluated strictly on the exact same 10,000-patient test set. Notice why accuracy is a dangerous metric in healthcare: AdaBoost achieved 88.47% accuracy, but its clinical recall was almost zero (0.70%). Random Forest achieved the highest F1-score of 0.2856 and the highest ROC-AUC of 0.6634, correctly identifying over 51% of readmissions. Therefore, Random Forest was designated as the production Champion model and serialized to models/vitalsign_readmission_model.pkl.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14, we present Module M4 unsupervised learning techniques. It is essential to clarify that clustering is an exploratory segmentation technique, not a replacement for supervised prediction. We implemented DBSCAN to isolate density outliers, detecting 52 extreme clinical encounters with atypical medication profiles. We also applied Hierarchical Ward clustering to construct patient dendrograms. On the right, our 2D PCA projection visualizes the continuous patient space, with PC1 and PC2 explaining over 42% of total clinical variance.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details our K-Means clustering implementation. We systematically evaluated K values from 2 through 10 using both the Elbow Method and Silhouette Analysis. We selected K=3 as the optimal number of clusters based on mathematical curvature and clinical interpretability. Cluster 0 represents short routine stays. Cluster 1 represents multi-diagnostic patients with over 8 diagnoses. Cluster 2 represents complex inpatient stays averaging over 8 hospital days and 24 medications. This segmentation helps hospital administrators tailor care protocols to patient phenotypes.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describes our deployed web system. We built an end-to-end Flask application containing 13 verified routes, including dashboard, dataset views, model benchmarks, and interactive prediction. The web application loads the serialized Champion Random Forest pipeline directly with Joblib. When a user enters patient information, the system returns the readmission probability, a colored risk badge, and recommended discharge protocols. We also implemented a REST endpoint at /api/predict that returns structured JSON payloads for clinical software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is a critical requirement for Course Outcome CO1: tracing a single clinical prediction request backward through every layer of the system. Here we trace actual patient encounter #86240259 from our dataset. The patient is in the 70 to 80 age group with 2 prior inpatient admissions and an extended 9-day hospital stay. In steps 1 through 4, the request moves from the web form through the preprocessor pipeline. In step 5, the Random Forest model calculates a readmission probability of 69.99%. In step 6 and 7, the system stratifies the patient as High Risk and prescribes a 7-day follow-up. Finally, step 8 logs the transaction for MLOps monitoring. This completes the end-to-end trace.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18, we summarize our results, conclusions, and future scope. We successfully processed 50,000 hospital records, implemented and compared 6 linear models and 3 tree-based ensembles, explored unsupervised clustering, and deployed a working Flask web application. Our primary academic conclusion is that in imbalanced healthcare datasets, accuracy is deceptive; balanced ensembles like Random Forest optimize sensitivity for life-critical readmission prevention. In the future, we plan to incorporate SHAP explainability and longitudinal clinical records. We emphasize that this project is an educational machine learning demonstration, not a medical diagnosis device.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faculty mentors and evaluators for your time and guidance. We are now ready to demonstrate our live Flask web application and answer any technical questions regarding our data preprocessing, linear models, tree ensembles, unsupervised clustering, or lifecycle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10362895" cy="4663440"/>
          </a:xfrm>
          <a:prstGeom prst="rect">
            <a:avLst/>
          </a:prstGeom>
          <a:solidFill>
            <a:srgbClr val="1E293B"/>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731520" tIns="548640" rIns="731520"/>
          <a:lstStyle/>
          <a:p>
            <a:pPr algn="ctr">
              <a:defRPr sz="1600" b="1">
                <a:solidFill>
                  <a:srgbClr val="0D9488"/>
                </a:solidFill>
              </a:defRPr>
            </a:pPr>
            <a:r>
              <a:t>VITALSIGN / HEALTHCARE PREDICTION</a:t>
            </a:r>
          </a:p>
          <a:p>
            <a:pPr>
              <a:spcBef>
                <a:spcPts val="1000"/>
              </a:spcBef>
              <a:defRPr sz="3000" b="1">
                <a:solidFill>
                  <a:srgbClr val="FFFFFF"/>
                </a:solidFill>
              </a:defRPr>
            </a:pPr>
            <a:r>
              <a:t>AI-Based 30-Day Hospital Readmission Prediction System</a:t>
            </a:r>
          </a:p>
          <a:p>
            <a:pPr>
              <a:spcBef>
                <a:spcPts val="800"/>
              </a:spcBef>
              <a:defRPr sz="1500">
                <a:solidFill>
                  <a:srgbClr val="CBD5E1"/>
                </a:solidFill>
              </a:defRPr>
            </a:pPr>
            <a:r>
              <a:t>A Complete Machine Learning System Lifecycle &amp; Clinical Decision Support Architecture</a:t>
            </a:r>
          </a:p>
          <a:p>
            <a:pPr>
              <a:spcBef>
                <a:spcPts val="1800"/>
              </a:spcBef>
              <a:defRPr sz="1300">
                <a:solidFill>
                  <a:srgbClr val="94A3B8"/>
                </a:solidFill>
              </a:defRPr>
            </a:pPr>
            <a:r>
              <a:t>• Dataset: UCI Diabetes 130-US Hospitals (diabetic_data_50000.csv — 50,000 Patient Encounters)</a:t>
            </a:r>
            <a:br/>
            <a:r>
              <a:t>• Academic Outcomes: CO1 (ML Lifecycle), CO2 (Linear &amp; Regularized Models), CO3 (Tree Ensembles)</a:t>
            </a:r>
            <a:br/>
            <a:r>
              <a:t>• Engineering Scope: Modules M1 (EDA), M2 (Preprocessing &amp; Linear), M3 (Classifiers), M4 (Clustering)</a:t>
            </a:r>
            <a:br/>
            <a:r>
              <a:t>• Deployment: Flask Web Framework with Real-Time Risk Stratification</a:t>
            </a:r>
          </a:p>
          <a:p>
            <a:pPr>
              <a:spcBef>
                <a:spcPts val="2400"/>
              </a:spcBef>
              <a:defRPr sz="1200" b="1">
                <a:solidFill>
                  <a:srgbClr val="0D9488"/>
                </a:solidFill>
              </a:defRPr>
            </a:pPr>
            <a:r>
              <a:t>Academic PBL Evaluation | Department of Computer Science &amp;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CLINICAL CONTEXT &amp; MOTIVATION</a:t>
            </a:r>
          </a:p>
          <a:p>
            <a:pPr>
              <a:defRPr sz="2000" b="1">
                <a:solidFill>
                  <a:srgbClr val="0F172A"/>
                </a:solidFill>
              </a:defRPr>
            </a:pPr>
            <a:r>
              <a:t>The Clinical Readmission Challenge in Diabetes Care</a:t>
            </a:r>
          </a:p>
        </p:txBody>
      </p:sp>
      <p:sp>
        <p:nvSpPr>
          <p:cNvPr id="3" name="Rectangle 2"/>
          <p:cNvSpPr/>
          <p:nvPr/>
        </p:nvSpPr>
        <p:spPr>
          <a:xfrm>
            <a:off x="731520" y="1463040"/>
            <a:ext cx="621792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defRPr sz="1600" b="1">
                <a:solidFill>
                  <a:srgbClr val="0F172A"/>
                </a:solidFill>
              </a:defRPr>
            </a:pPr>
            <a:r>
              <a:t>Clinical Problem &amp; Healthcare Dilemma:</a:t>
            </a:r>
          </a:p>
          <a:p>
            <a:pPr>
              <a:spcBef>
                <a:spcPts val="1000"/>
              </a:spcBef>
              <a:defRPr sz="1300">
                <a:solidFill>
                  <a:srgbClr val="475569"/>
                </a:solidFill>
              </a:defRPr>
            </a:pPr>
            <a:r>
              <a:t>• High Readmission Burden: Unplanned 30-day hospital readmissions among diabetic patients incur billions in healthcare costs and represent adverse clinical outcomes.</a:t>
            </a:r>
          </a:p>
          <a:p>
            <a:pPr>
              <a:spcBef>
                <a:spcPts val="1000"/>
              </a:spcBef>
              <a:defRPr sz="1300">
                <a:solidFill>
                  <a:srgbClr val="475569"/>
                </a:solidFill>
              </a:defRPr>
            </a:pPr>
            <a:r>
              <a:t>• Multivariate Clinical Complexity: Patient charts involve over 50 interdependent factors: demographics, laboratory tests, emergency histories, medications, and admission sources.</a:t>
            </a:r>
          </a:p>
          <a:p>
            <a:pPr>
              <a:spcBef>
                <a:spcPts val="1000"/>
              </a:spcBef>
              <a:defRPr sz="1300">
                <a:solidFill>
                  <a:srgbClr val="475569"/>
                </a:solidFill>
              </a:defRPr>
            </a:pPr>
            <a:r>
              <a:t>• Extreme Class Imbalance: In our 50,000-record dataset, only 11.49% (5,743 encounters) are readmitted within 30 days, causing traditional models to default to majority non-readmission.</a:t>
            </a:r>
          </a:p>
          <a:p>
            <a:pPr>
              <a:spcBef>
                <a:spcPts val="1000"/>
              </a:spcBef>
              <a:defRPr sz="1300">
                <a:solidFill>
                  <a:srgbClr val="475569"/>
                </a:solidFill>
              </a:defRPr>
            </a:pPr>
            <a:r>
              <a:t>• Manual Triage Bottlenecks: Clinicians lack automated, data-driven decision support tools to identify vulnerable, high-acuity patients at discharge.</a:t>
            </a:r>
          </a:p>
        </p:txBody>
      </p:sp>
      <p:sp>
        <p:nvSpPr>
          <p:cNvPr id="4" name="Rectangle 3"/>
          <p:cNvSpPr/>
          <p:nvPr/>
        </p:nvSpPr>
        <p:spPr>
          <a:xfrm>
            <a:off x="7132320" y="1463040"/>
            <a:ext cx="4327855" cy="48463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457200"/>
          <a:lstStyle/>
          <a:p>
            <a:pPr algn="ctr">
              <a:defRPr sz="1400" b="1">
                <a:solidFill>
                  <a:srgbClr val="1E3A8A"/>
                </a:solidFill>
              </a:defRPr>
            </a:pPr>
            <a:r>
              <a:t>SYSTEM OBJECTIVE FORMULATION</a:t>
            </a:r>
          </a:p>
          <a:p>
            <a:pPr algn="ctr">
              <a:spcBef>
                <a:spcPts val="400"/>
              </a:spcBef>
              <a:defRPr sz="1100">
                <a:solidFill>
                  <a:srgbClr val="0F172A"/>
                </a:solidFill>
              </a:defRPr>
            </a:pPr>
            <a:r>
              <a:t>Patient Ingestion</a:t>
            </a:r>
            <a:br/>
            <a:r>
              <a:t>(50 Clinical &amp; Diagnostic Fields)</a:t>
            </a:r>
          </a:p>
          <a:p>
            <a:pPr algn="ctr">
              <a:spcBef>
                <a:spcPts val="200"/>
              </a:spcBef>
              <a:defRPr sz="1600" b="1">
                <a:solidFill>
                  <a:srgbClr val="0D9488"/>
                </a:solidFill>
              </a:defRPr>
            </a:pPr>
            <a:r>
              <a:t>↓</a:t>
            </a:r>
          </a:p>
          <a:p>
            <a:pPr algn="ctr">
              <a:spcBef>
                <a:spcPts val="400"/>
              </a:spcBef>
              <a:defRPr sz="1100">
                <a:solidFill>
                  <a:srgbClr val="0F172A"/>
                </a:solidFill>
              </a:defRPr>
            </a:pPr>
            <a:r>
              <a:t>ML Preprocessing Pipeline</a:t>
            </a:r>
            <a:br/>
            <a:r>
              <a:t>(Imputation, Encoding, Scaling)</a:t>
            </a:r>
          </a:p>
          <a:p>
            <a:pPr algn="ctr">
              <a:spcBef>
                <a:spcPts val="200"/>
              </a:spcBef>
              <a:defRPr sz="1600" b="1">
                <a:solidFill>
                  <a:srgbClr val="0D9488"/>
                </a:solidFill>
              </a:defRPr>
            </a:pPr>
            <a:r>
              <a:t>↓</a:t>
            </a:r>
          </a:p>
          <a:p>
            <a:pPr algn="ctr">
              <a:spcBef>
                <a:spcPts val="400"/>
              </a:spcBef>
              <a:defRPr sz="1100">
                <a:solidFill>
                  <a:srgbClr val="0F172A"/>
                </a:solidFill>
              </a:defRPr>
            </a:pPr>
            <a:r>
              <a:t>Predictive Modeling</a:t>
            </a:r>
            <a:br/>
            <a:r>
              <a:t>(Linear, Regularized &amp; Tree Models)</a:t>
            </a:r>
          </a:p>
          <a:p>
            <a:pPr algn="ctr">
              <a:spcBef>
                <a:spcPts val="200"/>
              </a:spcBef>
              <a:defRPr sz="1600" b="1">
                <a:solidFill>
                  <a:srgbClr val="0D9488"/>
                </a:solidFill>
              </a:defRPr>
            </a:pPr>
            <a:r>
              <a:t>↓</a:t>
            </a:r>
          </a:p>
          <a:p>
            <a:pPr algn="ctr">
              <a:spcBef>
                <a:spcPts val="400"/>
              </a:spcBef>
              <a:defRPr sz="1100">
                <a:solidFill>
                  <a:srgbClr val="0F172A"/>
                </a:solidFill>
              </a:defRPr>
            </a:pPr>
            <a:r>
              <a:t>Risk Stratification (0 - 100%)</a:t>
            </a:r>
            <a:br/>
            <a:r>
              <a:t>(Low / Moderate / High Risk)</a:t>
            </a:r>
          </a:p>
          <a:p>
            <a:pPr algn="ctr">
              <a:spcBef>
                <a:spcPts val="200"/>
              </a:spcBef>
              <a:defRPr sz="1600" b="1">
                <a:solidFill>
                  <a:srgbClr val="0D9488"/>
                </a:solidFill>
              </a:defRPr>
            </a:pPr>
            <a:r>
              <a:t>↓</a:t>
            </a:r>
          </a:p>
          <a:p>
            <a:pPr algn="ctr">
              <a:spcBef>
                <a:spcPts val="400"/>
              </a:spcBef>
              <a:defRPr sz="1100">
                <a:solidFill>
                  <a:srgbClr val="0F172A"/>
                </a:solidFill>
              </a:defRPr>
            </a:pPr>
            <a:r>
              <a:t>Clinical Action Protocols</a:t>
            </a:r>
            <a:br/>
            <a:r>
              <a:t>(Follow-up, Med Reconciliation)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PROJECT OBJECTIVES &amp; CO ALIGNMENT</a:t>
            </a:r>
          </a:p>
          <a:p>
            <a:pPr>
              <a:defRPr sz="2000" b="1">
                <a:solidFill>
                  <a:srgbClr val="0F172A"/>
                </a:solidFill>
              </a:defRPr>
            </a:pPr>
            <a:r>
              <a:t>Project Objectives &amp; Academic Outcomes Mapping</a:t>
            </a:r>
          </a:p>
        </p:txBody>
      </p:sp>
      <p:sp>
        <p:nvSpPr>
          <p:cNvPr id="3" name="Rectangle 2"/>
          <p:cNvSpPr/>
          <p:nvPr/>
        </p:nvSpPr>
        <p:spPr>
          <a:xfrm>
            <a:off x="731520" y="1463040"/>
            <a:ext cx="5272430" cy="150876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300" b="1">
                <a:solidFill>
                  <a:srgbClr val="1E3A8A"/>
                </a:solidFill>
              </a:defRPr>
            </a:pPr>
            <a:r>
              <a:t>M1: Dataset Understanding &amp; EDA</a:t>
            </a:r>
          </a:p>
          <a:p>
            <a:pPr>
              <a:spcBef>
                <a:spcPts val="400"/>
              </a:spcBef>
              <a:defRPr sz="1100">
                <a:solidFill>
                  <a:srgbClr val="475569"/>
                </a:solidFill>
              </a:defRPr>
            </a:pPr>
            <a:r>
              <a:t>Ingest 50,000 hospital records, audit 188,908 missing tokens (7.56%), analyze correlation matrices, and generate 13 clinical distribution charts.</a:t>
            </a:r>
          </a:p>
        </p:txBody>
      </p:sp>
      <p:sp>
        <p:nvSpPr>
          <p:cNvPr id="4" name="Rectangle 3"/>
          <p:cNvSpPr/>
          <p:nvPr/>
        </p:nvSpPr>
        <p:spPr>
          <a:xfrm>
            <a:off x="6186830" y="1463040"/>
            <a:ext cx="5272430" cy="150876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300" b="1">
                <a:solidFill>
                  <a:srgbClr val="0D9488"/>
                </a:solidFill>
              </a:defRPr>
            </a:pPr>
            <a:r>
              <a:t>M2: Preprocessing &amp; Linear Models (CO2)</a:t>
            </a:r>
          </a:p>
          <a:p>
            <a:pPr>
              <a:spcBef>
                <a:spcPts val="400"/>
              </a:spcBef>
              <a:defRPr sz="1100">
                <a:solidFill>
                  <a:srgbClr val="475569"/>
                </a:solidFill>
              </a:defRPr>
            </a:pPr>
            <a:r>
              <a:t>Evaluate 6 encoding methods, compare CFNE vs SGD optimization, apply Ridge/Lasso/ElasticNet, and formulate Binary and Multinomial Logistic Classifiers.</a:t>
            </a:r>
          </a:p>
        </p:txBody>
      </p:sp>
      <p:sp>
        <p:nvSpPr>
          <p:cNvPr id="5" name="Rectangle 4"/>
          <p:cNvSpPr/>
          <p:nvPr/>
        </p:nvSpPr>
        <p:spPr>
          <a:xfrm>
            <a:off x="731520" y="3108960"/>
            <a:ext cx="5272430" cy="150876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300" b="1">
                <a:solidFill>
                  <a:srgbClr val="1E3A8A"/>
                </a:solidFill>
              </a:defRPr>
            </a:pPr>
            <a:r>
              <a:t>M3: Tree Ensembles &amp; Benchmark (CO3)</a:t>
            </a:r>
          </a:p>
          <a:p>
            <a:pPr>
              <a:spcBef>
                <a:spcPts val="400"/>
              </a:spcBef>
              <a:defRPr sz="1100">
                <a:solidFill>
                  <a:srgbClr val="475569"/>
                </a:solidFill>
              </a:defRPr>
            </a:pPr>
            <a:r>
              <a:t>Construct Decision Trees (depth tuning), Random Forest (100 trees, balanced weights), and AdaBoost; select deployment Champion via holdout benchmark.</a:t>
            </a:r>
          </a:p>
        </p:txBody>
      </p:sp>
      <p:sp>
        <p:nvSpPr>
          <p:cNvPr id="6" name="Rectangle 5"/>
          <p:cNvSpPr/>
          <p:nvPr/>
        </p:nvSpPr>
        <p:spPr>
          <a:xfrm>
            <a:off x="6186830" y="3108960"/>
            <a:ext cx="5272430" cy="150876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300" b="1">
                <a:solidFill>
                  <a:srgbClr val="0D9488"/>
                </a:solidFill>
              </a:defRPr>
            </a:pPr>
            <a:r>
              <a:t>M4: Patient Phenotyping &amp; Clustering</a:t>
            </a:r>
          </a:p>
          <a:p>
            <a:pPr>
              <a:spcBef>
                <a:spcPts val="400"/>
              </a:spcBef>
              <a:defRPr sz="1100">
                <a:solidFill>
                  <a:srgbClr val="475569"/>
                </a:solidFill>
              </a:defRPr>
            </a:pPr>
            <a:r>
              <a:t>Execute unsupervised patient segmentation using K-Means (Elbow &amp; Silhouette, K=2..10), DBSCAN outlier discovery, Hierarchical linkage, and PCA.</a:t>
            </a:r>
          </a:p>
        </p:txBody>
      </p:sp>
      <p:sp>
        <p:nvSpPr>
          <p:cNvPr id="7" name="Rectangle 6"/>
          <p:cNvSpPr/>
          <p:nvPr/>
        </p:nvSpPr>
        <p:spPr>
          <a:xfrm>
            <a:off x="731520" y="4754880"/>
            <a:ext cx="5272430" cy="150876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300" b="1">
                <a:solidFill>
                  <a:srgbClr val="1E3A8A"/>
                </a:solidFill>
              </a:defRPr>
            </a:pPr>
            <a:r>
              <a:t>CO1: Lifecycle &amp; Prediction Trace</a:t>
            </a:r>
          </a:p>
          <a:p>
            <a:pPr>
              <a:spcBef>
                <a:spcPts val="400"/>
              </a:spcBef>
              <a:defRPr sz="1100">
                <a:solidFill>
                  <a:srgbClr val="475569"/>
                </a:solidFill>
              </a:defRPr>
            </a:pPr>
            <a:r>
              <a:t>Map the complete 8-stage production ML lifecycle from raw ingestion to post-deployment monitoring; trace one real patient encounter end-to-end.</a:t>
            </a:r>
          </a:p>
        </p:txBody>
      </p:sp>
      <p:sp>
        <p:nvSpPr>
          <p:cNvPr id="8" name="Rectangle 7"/>
          <p:cNvSpPr/>
          <p:nvPr/>
        </p:nvSpPr>
        <p:spPr>
          <a:xfrm>
            <a:off x="6186830" y="4754880"/>
            <a:ext cx="5272430" cy="150876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300" b="1">
                <a:solidFill>
                  <a:srgbClr val="0D9488"/>
                </a:solidFill>
              </a:defRPr>
            </a:pPr>
            <a:r>
              <a:t>Flask Deployment &amp; MLOps Audit</a:t>
            </a:r>
          </a:p>
          <a:p>
            <a:pPr>
              <a:spcBef>
                <a:spcPts val="400"/>
              </a:spcBef>
              <a:defRPr sz="1100">
                <a:solidFill>
                  <a:srgbClr val="475569"/>
                </a:solidFill>
              </a:defRPr>
            </a:pPr>
            <a:r>
              <a:t>Deploy Champion Random Forest pipeline via interactive Flask web UI, expose REST API, and conduct batch inference drift monitoring.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DATASET INGESTION &amp; STATISTICS</a:t>
            </a:r>
          </a:p>
          <a:p>
            <a:pPr>
              <a:defRPr sz="2000" b="1">
                <a:solidFill>
                  <a:srgbClr val="0F172A"/>
                </a:solidFill>
              </a:defRPr>
            </a:pPr>
            <a:r>
              <a:t>UCI Diabetes 130-US Hospitals Dataset Architecture</a:t>
            </a:r>
          </a:p>
        </p:txBody>
      </p:sp>
      <p:sp>
        <p:nvSpPr>
          <p:cNvPr id="3" name="Rectangle 2"/>
          <p:cNvSpPr/>
          <p:nvPr/>
        </p:nvSpPr>
        <p:spPr>
          <a:xfrm>
            <a:off x="731520" y="1463040"/>
            <a:ext cx="502920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defRPr sz="1500" b="1">
                <a:solidFill>
                  <a:srgbClr val="0F172A"/>
                </a:solidFill>
              </a:defRPr>
            </a:pPr>
            <a:r>
              <a:t>Verified Dataset Specifications:</a:t>
            </a:r>
          </a:p>
          <a:p>
            <a:pPr>
              <a:spcBef>
                <a:spcPts val="800"/>
              </a:spcBef>
              <a:defRPr sz="1200">
                <a:solidFill>
                  <a:srgbClr val="475569"/>
                </a:solidFill>
              </a:defRPr>
            </a:pPr>
            <a:r>
              <a:t>• Source Corpus: UCI Machine Learning Repository (130 US Hospitals, 1999–2008)</a:t>
            </a:r>
          </a:p>
          <a:p>
            <a:pPr>
              <a:spcBef>
                <a:spcPts val="800"/>
              </a:spcBef>
              <a:defRPr sz="1200">
                <a:solidFill>
                  <a:srgbClr val="475569"/>
                </a:solidFill>
              </a:defRPr>
            </a:pPr>
            <a:r>
              <a:t>• Total Records: 50,000 clinical encounters (diabetic_data_50000.csv)</a:t>
            </a:r>
          </a:p>
          <a:p>
            <a:pPr>
              <a:spcBef>
                <a:spcPts val="800"/>
              </a:spcBef>
              <a:defRPr sz="1200">
                <a:solidFill>
                  <a:srgbClr val="475569"/>
                </a:solidFill>
              </a:defRPr>
            </a:pPr>
            <a:r>
              <a:t>• Total Attributes: 50 features (13 numerical, 37 categorical)</a:t>
            </a:r>
          </a:p>
          <a:p>
            <a:pPr>
              <a:spcBef>
                <a:spcPts val="800"/>
              </a:spcBef>
              <a:defRPr sz="1200">
                <a:solidFill>
                  <a:srgbClr val="475569"/>
                </a:solidFill>
              </a:defRPr>
            </a:pPr>
            <a:r>
              <a:t>• Missing Cells: 188,908 cells (7.56% missingness across 50 columns)</a:t>
            </a:r>
          </a:p>
          <a:p>
            <a:pPr>
              <a:spcBef>
                <a:spcPts val="800"/>
              </a:spcBef>
              <a:defRPr sz="1200">
                <a:solidFill>
                  <a:srgbClr val="475569"/>
                </a:solidFill>
              </a:defRPr>
            </a:pPr>
            <a:r>
              <a:t>• Primary Target: Readmission_30_Days (1 = Readmitted &lt;30d, 0 = Otherwise)</a:t>
            </a:r>
          </a:p>
          <a:p>
            <a:pPr>
              <a:spcBef>
                <a:spcPts val="800"/>
              </a:spcBef>
              <a:defRPr sz="1200">
                <a:solidFill>
                  <a:srgbClr val="475569"/>
                </a:solidFill>
              </a:defRPr>
            </a:pPr>
            <a:r>
              <a:t>• Class Distribution: Class 0: 44,257 (88.51%) | Class 1: 5,743 (11.49%)</a:t>
            </a:r>
          </a:p>
          <a:p>
            <a:pPr>
              <a:spcBef>
                <a:spcPts val="800"/>
              </a:spcBef>
              <a:defRPr sz="1200">
                <a:solidFill>
                  <a:srgbClr val="475569"/>
                </a:solidFill>
              </a:defRPr>
            </a:pPr>
            <a:r>
              <a:t>• Excluded Columns: encounter_id, patient_nbr, weight, payer_code, medical_specialty, diag_1, diag_2, diag_3 (leakage &amp; sparsity)</a:t>
            </a:r>
          </a:p>
        </p:txBody>
      </p:sp>
      <p:sp>
        <p:nvSpPr>
          <p:cNvPr id="4" name="Rectangle 3"/>
          <p:cNvSpPr/>
          <p:nvPr/>
        </p:nvSpPr>
        <p:spPr>
          <a:xfrm>
            <a:off x="5943600" y="1463040"/>
            <a:ext cx="5516575" cy="48463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400" b="1">
                <a:solidFill>
                  <a:srgbClr val="1E3A8A"/>
                </a:solidFill>
              </a:defRPr>
            </a:pPr>
            <a:r>
              <a:t>Representative Patient Clinical Encounter:</a:t>
            </a:r>
          </a:p>
          <a:p>
            <a:pPr>
              <a:spcBef>
                <a:spcPts val="600"/>
              </a:spcBef>
              <a:defRPr sz="1100">
                <a:solidFill>
                  <a:srgbClr val="0F172A"/>
                </a:solidFill>
              </a:defRPr>
            </a:pPr>
            <a:r>
              <a:t>• Feature Name         | Sample Value | Clinical Domain Context</a:t>
            </a:r>
          </a:p>
          <a:p>
            <a:pPr>
              <a:spcBef>
                <a:spcPts val="600"/>
              </a:spcBef>
              <a:defRPr sz="1100">
                <a:solidFill>
                  <a:srgbClr val="0F172A"/>
                </a:solidFill>
              </a:defRPr>
            </a:pPr>
            <a:r>
              <a:t>• age                  | [70-80)      | Demographic risk grouping</a:t>
            </a:r>
          </a:p>
          <a:p>
            <a:pPr>
              <a:spcBef>
                <a:spcPts val="600"/>
              </a:spcBef>
              <a:defRPr sz="1100">
                <a:solidFill>
                  <a:srgbClr val="0F172A"/>
                </a:solidFill>
              </a:defRPr>
            </a:pPr>
            <a:r>
              <a:t>• time_in_hospital     | 9 days       | Hospital inpatient duration</a:t>
            </a:r>
          </a:p>
          <a:p>
            <a:pPr>
              <a:spcBef>
                <a:spcPts val="600"/>
              </a:spcBef>
              <a:defRPr sz="1100">
                <a:solidFill>
                  <a:srgbClr val="0F172A"/>
                </a:solidFill>
              </a:defRPr>
            </a:pPr>
            <a:r>
              <a:t>• num_lab_procedures   | 54 tests     | Laboratory intensity index</a:t>
            </a:r>
          </a:p>
          <a:p>
            <a:pPr>
              <a:spcBef>
                <a:spcPts val="600"/>
              </a:spcBef>
              <a:defRPr sz="1100">
                <a:solidFill>
                  <a:srgbClr val="0F172A"/>
                </a:solidFill>
              </a:defRPr>
            </a:pPr>
            <a:r>
              <a:t>• number_inpatient     | 2 prior visits | Strongest readmission predictor</a:t>
            </a:r>
          </a:p>
          <a:p>
            <a:pPr>
              <a:spcBef>
                <a:spcPts val="600"/>
              </a:spcBef>
              <a:defRPr sz="1100">
                <a:solidFill>
                  <a:srgbClr val="0F172A"/>
                </a:solidFill>
              </a:defRPr>
            </a:pPr>
            <a:r>
              <a:t>• number_diagnoses     | 7 diagnoses  | Patient comorbidity complexity</a:t>
            </a:r>
          </a:p>
          <a:p>
            <a:pPr>
              <a:spcBef>
                <a:spcPts val="600"/>
              </a:spcBef>
              <a:defRPr sz="1100">
                <a:solidFill>
                  <a:srgbClr val="0F172A"/>
                </a:solidFill>
              </a:defRPr>
            </a:pPr>
            <a:r>
              <a:t>• insulin              | Down         | Glycemic regimen adjustment</a:t>
            </a:r>
          </a:p>
          <a:p>
            <a:pPr>
              <a:spcBef>
                <a:spcPts val="600"/>
              </a:spcBef>
              <a:defRPr sz="1100">
                <a:solidFill>
                  <a:srgbClr val="0F172A"/>
                </a:solidFill>
              </a:defRPr>
            </a:pPr>
            <a:r>
              <a:t>• diabetesMed          | Yes          | Active antidiabetic prescription</a:t>
            </a:r>
          </a:p>
          <a:p>
            <a:pPr>
              <a:spcBef>
                <a:spcPts val="600"/>
              </a:spcBef>
              <a:defRPr sz="1100">
                <a:solidFill>
                  <a:srgbClr val="0F172A"/>
                </a:solidFill>
              </a:defRPr>
            </a:pPr>
            <a:r>
              <a:t>• readmitted           | &lt;30          | Ground-truth target (Mapped to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CO1: SYSTEM LIFECYCLE ARCHITECTURE</a:t>
            </a:r>
          </a:p>
          <a:p>
            <a:pPr>
              <a:defRPr sz="2000" b="1">
                <a:solidFill>
                  <a:srgbClr val="0F172A"/>
                </a:solidFill>
              </a:defRPr>
            </a:pPr>
            <a:r>
              <a:t>Course Outcome CO1: End-to-End Machine Learning System Lifecycle</a:t>
            </a:r>
          </a:p>
        </p:txBody>
      </p:sp>
      <p:sp>
        <p:nvSpPr>
          <p:cNvPr id="3" name="Rectangle 2"/>
          <p:cNvSpPr/>
          <p:nvPr/>
        </p:nvSpPr>
        <p:spPr>
          <a:xfrm>
            <a:off x="731520" y="1645920"/>
            <a:ext cx="2560320" cy="210312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1. Raw Ingestion</a:t>
            </a:r>
          </a:p>
          <a:p>
            <a:pPr>
              <a:spcBef>
                <a:spcPts val="800"/>
              </a:spcBef>
              <a:defRPr sz="1100">
                <a:solidFill>
                  <a:srgbClr val="475569"/>
                </a:solidFill>
              </a:defRPr>
            </a:pPr>
            <a:r>
              <a:t>diabetic_data_50000.csv</a:t>
            </a:r>
            <a:br/>
            <a:r>
              <a:t>(50,000 patient rows)</a:t>
            </a:r>
          </a:p>
        </p:txBody>
      </p:sp>
      <p:sp>
        <p:nvSpPr>
          <p:cNvPr id="4" name="Rectangle 3"/>
          <p:cNvSpPr/>
          <p:nvPr/>
        </p:nvSpPr>
        <p:spPr>
          <a:xfrm>
            <a:off x="3429000" y="1645920"/>
            <a:ext cx="2560320" cy="210312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2. Data Sanitization</a:t>
            </a:r>
          </a:p>
          <a:p>
            <a:pPr>
              <a:spcBef>
                <a:spcPts val="800"/>
              </a:spcBef>
              <a:defRPr sz="1100">
                <a:solidFill>
                  <a:srgbClr val="475569"/>
                </a:solidFill>
              </a:defRPr>
            </a:pPr>
            <a:r>
              <a:t>Replace '?' with NaN</a:t>
            </a:r>
            <a:br/>
            <a:r>
              <a:t>Drop ID &amp; sparse cols</a:t>
            </a:r>
          </a:p>
        </p:txBody>
      </p:sp>
      <p:sp>
        <p:nvSpPr>
          <p:cNvPr id="5" name="Rectangle 4"/>
          <p:cNvSpPr/>
          <p:nvPr/>
        </p:nvSpPr>
        <p:spPr>
          <a:xfrm>
            <a:off x="6126480" y="1645920"/>
            <a:ext cx="2560320" cy="210312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3. Preprocessing</a:t>
            </a:r>
          </a:p>
          <a:p>
            <a:pPr>
              <a:spcBef>
                <a:spcPts val="800"/>
              </a:spcBef>
              <a:defRPr sz="1100">
                <a:solidFill>
                  <a:srgbClr val="475569"/>
                </a:solidFill>
              </a:defRPr>
            </a:pPr>
            <a:r>
              <a:t>ColumnTransformer</a:t>
            </a:r>
            <a:br/>
            <a:r>
              <a:t>(Median + OHE/Scaling)</a:t>
            </a:r>
          </a:p>
        </p:txBody>
      </p:sp>
      <p:sp>
        <p:nvSpPr>
          <p:cNvPr id="6" name="Rectangle 5"/>
          <p:cNvSpPr/>
          <p:nvPr/>
        </p:nvSpPr>
        <p:spPr>
          <a:xfrm>
            <a:off x="8823960" y="1645920"/>
            <a:ext cx="2560320" cy="210312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4. Split &amp; Stratify</a:t>
            </a:r>
          </a:p>
          <a:p>
            <a:pPr>
              <a:spcBef>
                <a:spcPts val="800"/>
              </a:spcBef>
              <a:defRPr sz="1100">
                <a:solidFill>
                  <a:srgbClr val="475569"/>
                </a:solidFill>
              </a:defRPr>
            </a:pPr>
            <a:r>
              <a:t>80/20 Stratified Split</a:t>
            </a:r>
            <a:br/>
            <a:r>
              <a:t>Train: 40k | Test: 10k</a:t>
            </a:r>
          </a:p>
        </p:txBody>
      </p:sp>
      <p:sp>
        <p:nvSpPr>
          <p:cNvPr id="7" name="Rectangle 6"/>
          <p:cNvSpPr/>
          <p:nvPr/>
        </p:nvSpPr>
        <p:spPr>
          <a:xfrm>
            <a:off x="731520" y="4023360"/>
            <a:ext cx="2560320" cy="2103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5. Model Training</a:t>
            </a:r>
          </a:p>
          <a:p>
            <a:pPr>
              <a:spcBef>
                <a:spcPts val="800"/>
              </a:spcBef>
              <a:defRPr sz="1100">
                <a:solidFill>
                  <a:srgbClr val="475569"/>
                </a:solidFill>
              </a:defRPr>
            </a:pPr>
            <a:r>
              <a:t>Linear, Tree Ensembles</a:t>
            </a:r>
            <a:br/>
            <a:r>
              <a:t>Balanced class weights</a:t>
            </a:r>
          </a:p>
        </p:txBody>
      </p:sp>
      <p:sp>
        <p:nvSpPr>
          <p:cNvPr id="8" name="Rectangle 7"/>
          <p:cNvSpPr/>
          <p:nvPr/>
        </p:nvSpPr>
        <p:spPr>
          <a:xfrm>
            <a:off x="3429000" y="4023360"/>
            <a:ext cx="2560320" cy="2103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6. Holdout Eval</a:t>
            </a:r>
          </a:p>
          <a:p>
            <a:pPr>
              <a:spcBef>
                <a:spcPts val="800"/>
              </a:spcBef>
              <a:defRPr sz="1100">
                <a:solidFill>
                  <a:srgbClr val="475569"/>
                </a:solidFill>
              </a:defRPr>
            </a:pPr>
            <a:r>
              <a:t>Accuracy, Precision,</a:t>
            </a:r>
            <a:br/>
            <a:r>
              <a:t>Recall, F1 &amp; ROC-AUC</a:t>
            </a:r>
          </a:p>
        </p:txBody>
      </p:sp>
      <p:sp>
        <p:nvSpPr>
          <p:cNvPr id="9" name="Rectangle 8"/>
          <p:cNvSpPr/>
          <p:nvPr/>
        </p:nvSpPr>
        <p:spPr>
          <a:xfrm>
            <a:off x="6126480" y="4023360"/>
            <a:ext cx="2560320" cy="2103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7. Serialization</a:t>
            </a:r>
          </a:p>
          <a:p>
            <a:pPr>
              <a:spcBef>
                <a:spcPts val="800"/>
              </a:spcBef>
              <a:defRPr sz="1100">
                <a:solidFill>
                  <a:srgbClr val="475569"/>
                </a:solidFill>
              </a:defRPr>
            </a:pPr>
            <a:r>
              <a:t>vitalsign_model.pkl</a:t>
            </a:r>
            <a:br/>
            <a:r>
              <a:t>Metadata registration</a:t>
            </a:r>
          </a:p>
        </p:txBody>
      </p:sp>
      <p:sp>
        <p:nvSpPr>
          <p:cNvPr id="10" name="Rectangle 9"/>
          <p:cNvSpPr/>
          <p:nvPr/>
        </p:nvSpPr>
        <p:spPr>
          <a:xfrm>
            <a:off x="8823960" y="4023360"/>
            <a:ext cx="2560320" cy="2103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300" b="1">
                <a:solidFill>
                  <a:srgbClr val="0F172A"/>
                </a:solidFill>
              </a:defRPr>
            </a:pPr>
            <a:r>
              <a:t>8. Flask Serving</a:t>
            </a:r>
          </a:p>
          <a:p>
            <a:pPr>
              <a:spcBef>
                <a:spcPts val="800"/>
              </a:spcBef>
              <a:defRPr sz="1100">
                <a:solidFill>
                  <a:srgbClr val="475569"/>
                </a:solidFill>
              </a:defRPr>
            </a:pPr>
            <a:r>
              <a:t>Interactive UI, REST API,</a:t>
            </a:r>
            <a:br/>
            <a:r>
              <a:t>Real-time inference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MODULE M2: PREPROCESSING ARCHITECTURE</a:t>
            </a:r>
          </a:p>
          <a:p>
            <a:pPr>
              <a:defRPr sz="2000" b="1">
                <a:solidFill>
                  <a:srgbClr val="0F172A"/>
                </a:solidFill>
              </a:defRPr>
            </a:pPr>
            <a:r>
              <a:t>Clinical Data Cleaning &amp; Preprocessing Pipeline</a:t>
            </a:r>
          </a:p>
        </p:txBody>
      </p:sp>
      <p:sp>
        <p:nvSpPr>
          <p:cNvPr id="3" name="Rectangle 2"/>
          <p:cNvSpPr/>
          <p:nvPr/>
        </p:nvSpPr>
        <p:spPr>
          <a:xfrm>
            <a:off x="731520" y="1463040"/>
            <a:ext cx="10728655"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sz="1600" b="1">
                <a:solidFill>
                  <a:srgbClr val="0F172A"/>
                </a:solidFill>
              </a:defRPr>
            </a:pPr>
            <a:r>
              <a:t>Production Preprocessing Architecture (final_preprocess_M2.py):</a:t>
            </a:r>
          </a:p>
          <a:p>
            <a:pPr>
              <a:spcBef>
                <a:spcPts val="800"/>
              </a:spcBef>
              <a:defRPr sz="1200">
                <a:solidFill>
                  <a:srgbClr val="475569"/>
                </a:solidFill>
              </a:defRPr>
            </a:pPr>
            <a:r>
              <a:t>• Missing Token Resolution: Audited and converted all '?' characters to np.nan across all 50 columns without deleting patient rows.</a:t>
            </a:r>
          </a:p>
          <a:p>
            <a:pPr>
              <a:spcBef>
                <a:spcPts val="800"/>
              </a:spcBef>
              <a:defRPr sz="1200">
                <a:solidFill>
                  <a:srgbClr val="475569"/>
                </a:solidFill>
              </a:defRPr>
            </a:pPr>
            <a:r>
              <a:t>• Dimensionality Reduction &amp; Leakage Elimination: Safely dropped 9 uninformative or high-cardinality columns: encounter_id, patient_nbr, readmitted, weight (96.3% missing), payer_code (65.3% missing), medical_specialty (35.5% missing), and diag_1/2/3.</a:t>
            </a:r>
          </a:p>
          <a:p>
            <a:pPr>
              <a:spcBef>
                <a:spcPts val="800"/>
              </a:spcBef>
              <a:defRPr sz="1200">
                <a:solidFill>
                  <a:srgbClr val="475569"/>
                </a:solidFill>
              </a:defRPr>
            </a:pPr>
            <a:r>
              <a:t>• Numerical Feature Imputation &amp; Scaling: 11 numerical features (e.g. time_in_hospital, lab procedures, prior admissions) imputed via Median strategy, then transformed using StandardScaler (Mean = 0, Std = 1).</a:t>
            </a:r>
          </a:p>
          <a:p>
            <a:pPr>
              <a:spcBef>
                <a:spcPts val="800"/>
              </a:spcBef>
              <a:defRPr sz="1200">
                <a:solidFill>
                  <a:srgbClr val="475569"/>
                </a:solidFill>
              </a:defRPr>
            </a:pPr>
            <a:r>
              <a:t>• Categorical Feature Imputation &amp; Encoding: 30 categorical features (e.g. race, gender, age, 23 medications) imputed via Most Frequent strategy and converted into dense binary indicators via OneHotEncoder(handle_unknown='ignore').</a:t>
            </a:r>
          </a:p>
          <a:p>
            <a:pPr>
              <a:spcBef>
                <a:spcPts val="800"/>
              </a:spcBef>
              <a:defRPr sz="1200">
                <a:solidFill>
                  <a:srgbClr val="475569"/>
                </a:solidFill>
              </a:defRPr>
            </a:pPr>
            <a:r>
              <a:t>• Supervised Target Derivation: Engineered binary ground truth: Readmission_30_Days = (readmitted == '&lt;30').astype(int).</a:t>
            </a:r>
          </a:p>
          <a:p>
            <a:pPr>
              <a:spcBef>
                <a:spcPts val="800"/>
              </a:spcBef>
              <a:defRPr sz="1200">
                <a:solidFill>
                  <a:srgbClr val="475569"/>
                </a:solidFill>
              </a:defRPr>
            </a:pPr>
            <a:r>
              <a:t>• Output Dimensionality: Produced 104 clean numerical features for linear models and ~70 dense features for tree classifiers, serialized to models/preprocessor.pkl.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MODULE M1: EXPLORATORY DATA ANALYSIS</a:t>
            </a:r>
          </a:p>
          <a:p>
            <a:pPr>
              <a:defRPr sz="2000" b="1">
                <a:solidFill>
                  <a:srgbClr val="0F172A"/>
                </a:solidFill>
              </a:defRPr>
            </a:pPr>
            <a:r>
              <a:t>Exploratory Data Analysis &amp; Clinical Correlation Heatmap</a:t>
            </a:r>
          </a:p>
        </p:txBody>
      </p:sp>
      <p:sp>
        <p:nvSpPr>
          <p:cNvPr id="3" name="Rectangle 2"/>
          <p:cNvSpPr/>
          <p:nvPr/>
        </p:nvSpPr>
        <p:spPr>
          <a:xfrm>
            <a:off x="731520" y="1463040"/>
            <a:ext cx="530352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defRPr sz="1500" b="1">
                <a:solidFill>
                  <a:srgbClr val="0F172A"/>
                </a:solidFill>
              </a:defRPr>
            </a:pPr>
            <a:r>
              <a:t>Key Verified Clinical Insights (EDA_Analysis.py):</a:t>
            </a:r>
          </a:p>
          <a:p>
            <a:pPr>
              <a:spcBef>
                <a:spcPts val="800"/>
              </a:spcBef>
              <a:defRPr sz="1200">
                <a:solidFill>
                  <a:srgbClr val="475569"/>
                </a:solidFill>
              </a:defRPr>
            </a:pPr>
            <a:r>
              <a:t>• Readmission Imbalance: Out of 50,000 encounters, only 11.49% were readmitted within 30 days. 88.51% were either readmitted after 30 days or not readmitted.</a:t>
            </a:r>
          </a:p>
          <a:p>
            <a:pPr>
              <a:spcBef>
                <a:spcPts val="800"/>
              </a:spcBef>
              <a:defRPr sz="1200">
                <a:solidFill>
                  <a:srgbClr val="475569"/>
                </a:solidFill>
              </a:defRPr>
            </a:pPr>
            <a:r>
              <a:t>• Prior Inpatient Admissions: number_inpatient showed the highest positive Pearson correlation with 30-day readmission (r = +0.162), indicating past hospitalization history is a paramount risk marker.</a:t>
            </a:r>
          </a:p>
          <a:p>
            <a:pPr>
              <a:spcBef>
                <a:spcPts val="800"/>
              </a:spcBef>
              <a:defRPr sz="1200">
                <a:solidFill>
                  <a:srgbClr val="475569"/>
                </a:solidFill>
              </a:defRPr>
            </a:pPr>
            <a:r>
              <a:t>• Length of Stay vs Vitals: Hospital duration (time_in_hospital, mean = 4.56 days) is moderately correlated with number of medications (r = +0.46) and lab procedures (r = +0.32).</a:t>
            </a:r>
          </a:p>
          <a:p>
            <a:pPr>
              <a:spcBef>
                <a:spcPts val="800"/>
              </a:spcBef>
              <a:defRPr sz="1200">
                <a:solidFill>
                  <a:srgbClr val="475569"/>
                </a:solidFill>
              </a:defRPr>
            </a:pPr>
            <a:r>
              <a:t>• Missing Token Concentration: Missingness is heavily concentrated: weight (96.3%), max_glu_serum (90.7%), A1Cresult (84.8%), and payer_code (65.3%).</a:t>
            </a:r>
          </a:p>
          <a:p>
            <a:pPr>
              <a:spcBef>
                <a:spcPts val="800"/>
              </a:spcBef>
              <a:defRPr sz="1200">
                <a:solidFill>
                  <a:srgbClr val="475569"/>
                </a:solidFill>
              </a:defRPr>
            </a:pPr>
            <a:r>
              <a:t>• Demographic Spread: Patient age distribution peaks in the [70-80) and [60-70) age brackets; gender is evenly split (53.8% Female, 46.2% Male).</a:t>
            </a:r>
          </a:p>
        </p:txBody>
      </p:sp>
      <p:pic>
        <p:nvPicPr>
          <p:cNvPr id="4" name="Picture 3" descr="Correlation_Heatmap.png"/>
          <p:cNvPicPr>
            <a:picLocks noChangeAspect="1"/>
          </p:cNvPicPr>
          <p:nvPr/>
        </p:nvPicPr>
        <p:blipFill>
          <a:blip r:embed="rId2"/>
          <a:stretch>
            <a:fillRect/>
          </a:stretch>
        </p:blipFill>
        <p:spPr>
          <a:xfrm>
            <a:off x="6217920" y="1463040"/>
            <a:ext cx="5242255" cy="419380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MODULE M2: FEATURE ENGINEERING &amp; ENCODINGS</a:t>
            </a:r>
          </a:p>
          <a:p>
            <a:pPr>
              <a:defRPr sz="2000" b="1">
                <a:solidFill>
                  <a:srgbClr val="0F172A"/>
                </a:solidFill>
              </a:defRPr>
            </a:pPr>
            <a:r>
              <a:t>Academic Encoding Demonstrations vs Production Pipeline</a:t>
            </a:r>
          </a:p>
        </p:txBody>
      </p:sp>
      <p:sp>
        <p:nvSpPr>
          <p:cNvPr id="3" name="Rectangle 2"/>
          <p:cNvSpPr/>
          <p:nvPr/>
        </p:nvSpPr>
        <p:spPr>
          <a:xfrm>
            <a:off x="731520" y="1463040"/>
            <a:ext cx="10728655"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a:lstStyle/>
          <a:p>
            <a:pPr algn="ctr">
              <a:defRPr sz="1600" b="1">
                <a:solidFill>
                  <a:srgbClr val="0F172A"/>
                </a:solidFill>
              </a:defRPr>
            </a:pPr>
            <a:r>
              <a:t>Encoding Techniques Implemented for Academic Rigor (Module M2):</a:t>
            </a:r>
          </a:p>
          <a:p>
            <a:pPr>
              <a:spcBef>
                <a:spcPts val="800"/>
              </a:spcBef>
              <a:defRPr sz="1200">
                <a:solidFill>
                  <a:srgbClr val="475569"/>
                </a:solidFill>
              </a:defRPr>
            </a:pPr>
            <a:r>
              <a:t>• Label Encoding (clean_label_encode_M2.py): Applied to binary clinical flags such as diabetesMed ('No'-&gt;0, 'Yes'-&gt;1) and change ('Ch'-&gt;0, 'No'-&gt;1). Simple and memory efficient for ordinal/binary features.</a:t>
            </a:r>
          </a:p>
          <a:p>
            <a:pPr>
              <a:spcBef>
                <a:spcPts val="800"/>
              </a:spcBef>
              <a:defRPr sz="1200">
                <a:solidFill>
                  <a:srgbClr val="475569"/>
                </a:solidFill>
              </a:defRPr>
            </a:pPr>
            <a:r>
              <a:t>• One-Hot Encoding (clean_one_hot_encod_M2.py): Applied to nominal categories without order (race, admission source, discharge disposition). Produces orthogonal binary columns; handle_unknown='ignore' ensures test robustness.</a:t>
            </a:r>
          </a:p>
          <a:p>
            <a:pPr>
              <a:spcBef>
                <a:spcPts val="800"/>
              </a:spcBef>
              <a:defRPr sz="1200">
                <a:solidFill>
                  <a:srgbClr val="475569"/>
                </a:solidFill>
              </a:defRPr>
            </a:pPr>
            <a:r>
              <a:t>• Ordinal Encoding (clean_ordinal_encode_M2.py): Preserves chronological clinical hierarchy in age bands: '[0-10)' -&gt; 0 through '[90-100)' -&gt; 9, maintaining mathematical distance between age tiers.</a:t>
            </a:r>
          </a:p>
          <a:p>
            <a:pPr>
              <a:spcBef>
                <a:spcPts val="800"/>
              </a:spcBef>
              <a:defRPr sz="1200">
                <a:solidFill>
                  <a:srgbClr val="475569"/>
                </a:solidFill>
              </a:defRPr>
            </a:pPr>
            <a:r>
              <a:t>• Target Mean Encoding (clean_target_encode_M2.py): Replaces categories with the conditional target mean P(Y=1|X=c). Fitted strictly on the training partition to prevent label leakage.</a:t>
            </a:r>
          </a:p>
          <a:p>
            <a:pPr>
              <a:spcBef>
                <a:spcPts val="800"/>
              </a:spcBef>
              <a:defRPr sz="1200">
                <a:solidFill>
                  <a:srgbClr val="475569"/>
                </a:solidFill>
              </a:defRPr>
            </a:pPr>
            <a:r>
              <a:t>• Scaling: Min-Max vs Standard (clean_minmax_stand_norma_M2.py): Demonstrated Min-Max normalization [0, 1] vs Z-Score standardization (zero mean, unit variance). StandardScaler chosen for linear models to preserve outlier influence.</a:t>
            </a:r>
          </a:p>
          <a:p>
            <a:pPr>
              <a:spcBef>
                <a:spcPts val="800"/>
              </a:spcBef>
              <a:defRPr sz="1200">
                <a:solidFill>
                  <a:srgbClr val="475569"/>
                </a:solidFill>
              </a:defRPr>
            </a:pPr>
            <a:r>
              <a:t>• Production Selection Rationale: To prevent synthetic ordinal assumptions while avoiding target leakage, our production pipeline final_preprocess_M2.py integrates Median Imputation + StandardScaler for numerical columns and Mode Imputation + OneHotEncoder for categorical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CO2: LINEAR SUPERVISED LEARNING</a:t>
            </a:r>
          </a:p>
          <a:p>
            <a:pPr>
              <a:defRPr sz="2000" b="1">
                <a:solidFill>
                  <a:srgbClr val="0F172A"/>
                </a:solidFill>
              </a:defRPr>
            </a:pPr>
            <a:r>
              <a:t>CO2: Linear Regression, Regularization &amp; Bias-Variance Analysis</a:t>
            </a:r>
          </a:p>
        </p:txBody>
      </p:sp>
      <p:sp>
        <p:nvSpPr>
          <p:cNvPr id="3" name="Rectangle 2"/>
          <p:cNvSpPr/>
          <p:nvPr/>
        </p:nvSpPr>
        <p:spPr>
          <a:xfrm>
            <a:off x="731520" y="1463040"/>
            <a:ext cx="548640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400" b="1">
                <a:solidFill>
                  <a:srgbClr val="0F172A"/>
                </a:solidFill>
              </a:defRPr>
            </a:pPr>
            <a:r>
              <a:t>Continuous Target Evaluation: time_in_hospital (Days):</a:t>
            </a:r>
          </a:p>
          <a:p>
            <a:pPr>
              <a:spcBef>
                <a:spcPts val="600"/>
              </a:spcBef>
              <a:defRPr sz="1100">
                <a:solidFill>
                  <a:srgbClr val="475569"/>
                </a:solidFill>
              </a:defRPr>
            </a:pPr>
            <a:r>
              <a:t>• Clinical Target Formulation: Linear regression models are applied to an appropriate continuous clinical target—length of hospital stay (time_in_hospital)—rather than improperly treating binary readmission as linear.</a:t>
            </a:r>
          </a:p>
          <a:p>
            <a:pPr>
              <a:spcBef>
                <a:spcPts val="600"/>
              </a:spcBef>
              <a:defRPr sz="1100">
                <a:solidFill>
                  <a:srgbClr val="475569"/>
                </a:solidFill>
              </a:defRPr>
            </a:pPr>
            <a:r>
              <a:t>• OLS Closed-Form vs SGD (CFNE_GD_Compare): OLS Normal Equation achieves MAE = 2.0459 days, RMSE = 2.6636, R² = 0.2575. Stochastic Gradient Descent converges to identical MAE = 2.0480, RMSE = 2.6636 in 100 epochs.</a:t>
            </a:r>
          </a:p>
          <a:p>
            <a:pPr>
              <a:spcBef>
                <a:spcPts val="600"/>
              </a:spcBef>
              <a:defRPr sz="1100">
                <a:solidFill>
                  <a:srgbClr val="475569"/>
                </a:solidFill>
              </a:defRPr>
            </a:pPr>
            <a:r>
              <a:t>• Ridge Regression (L2 Penalty): Shrinks regression weights toward zero via alpha * ||w||_2^2. Achieved MAE = 2.0431, RMSE = 2.6608, R² = 0.2591, mitigating multicollinearity.</a:t>
            </a:r>
          </a:p>
          <a:p>
            <a:pPr>
              <a:spcBef>
                <a:spcPts val="600"/>
              </a:spcBef>
              <a:defRPr sz="1100">
                <a:solidFill>
                  <a:srgbClr val="475569"/>
                </a:solidFill>
              </a:defRPr>
            </a:pPr>
            <a:r>
              <a:t>• Lasso Regression (L1 Penalty): Enforces sparse feature selection by driving non-critical feature coefficients to zero. Achieved MAE = 2.0434, RMSE = 2.6605, R² = 0.2592.</a:t>
            </a:r>
          </a:p>
          <a:p>
            <a:pPr>
              <a:spcBef>
                <a:spcPts val="600"/>
              </a:spcBef>
              <a:defRPr sz="1100">
                <a:solidFill>
                  <a:srgbClr val="475569"/>
                </a:solidFill>
              </a:defRPr>
            </a:pPr>
            <a:r>
              <a:t>• Elastic Net Regularization: Combines L1 and L2 penalties (l1_ratio=0.5). Achieved MAE = 2.0435, RMSE = 2.6606, R² = 0.2591, balancing feature selection with collinear stability.</a:t>
            </a:r>
          </a:p>
        </p:txBody>
      </p:sp>
      <p:pic>
        <p:nvPicPr>
          <p:cNvPr id="4" name="Picture 3" descr="bias_variance.png"/>
          <p:cNvPicPr>
            <a:picLocks noChangeAspect="1"/>
          </p:cNvPicPr>
          <p:nvPr/>
        </p:nvPicPr>
        <p:blipFill>
          <a:blip r:embed="rId2"/>
          <a:stretch>
            <a:fillRect/>
          </a:stretch>
        </p:blipFill>
        <p:spPr>
          <a:xfrm>
            <a:off x="6400800" y="1463040"/>
            <a:ext cx="5059375" cy="194591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CO2: PROBABILISTIC BINARY CLASSIFICATION</a:t>
            </a:r>
          </a:p>
          <a:p>
            <a:pPr>
              <a:defRPr sz="2000" b="1">
                <a:solidFill>
                  <a:srgbClr val="0F172A"/>
                </a:solidFill>
              </a:defRPr>
            </a:pPr>
            <a:r>
              <a:t>Binary Logistic Regression Readmission Classifier</a:t>
            </a:r>
          </a:p>
        </p:txBody>
      </p:sp>
      <p:sp>
        <p:nvSpPr>
          <p:cNvPr id="3" name="Rectangle 2"/>
          <p:cNvSpPr/>
          <p:nvPr/>
        </p:nvSpPr>
        <p:spPr>
          <a:xfrm>
            <a:off x="731520" y="1463040"/>
            <a:ext cx="530352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defRPr sz="1500" b="1">
                <a:solidFill>
                  <a:srgbClr val="0F172A"/>
                </a:solidFill>
              </a:defRPr>
            </a:pPr>
            <a:r>
              <a:t>Verified Holdout Performance (10,000 Encounters):</a:t>
            </a:r>
          </a:p>
          <a:p>
            <a:pPr>
              <a:spcBef>
                <a:spcPts val="700"/>
              </a:spcBef>
              <a:defRPr sz="1200">
                <a:solidFill>
                  <a:srgbClr val="475569"/>
                </a:solidFill>
              </a:defRPr>
            </a:pPr>
            <a:r>
              <a:t>• Accuracy: 64.87% (6,487 out of 10,000 correct)</a:t>
            </a:r>
          </a:p>
          <a:p>
            <a:pPr>
              <a:spcBef>
                <a:spcPts val="700"/>
              </a:spcBef>
              <a:defRPr sz="1200">
                <a:solidFill>
                  <a:srgbClr val="475569"/>
                </a:solidFill>
              </a:defRPr>
            </a:pPr>
            <a:r>
              <a:t>• Precision: 0.1724 (17.24% of flagged patients readmitted)</a:t>
            </a:r>
          </a:p>
          <a:p>
            <a:pPr>
              <a:spcBef>
                <a:spcPts val="700"/>
              </a:spcBef>
              <a:defRPr sz="1200">
                <a:solidFill>
                  <a:srgbClr val="475569"/>
                </a:solidFill>
              </a:defRPr>
            </a:pPr>
            <a:r>
              <a:t>• Recall (Sensitivity): 0.5413 (54.13% of true &lt;30d readmissions detected)</a:t>
            </a:r>
          </a:p>
          <a:p>
            <a:pPr>
              <a:spcBef>
                <a:spcPts val="700"/>
              </a:spcBef>
              <a:defRPr sz="1200">
                <a:solidFill>
                  <a:srgbClr val="475569"/>
                </a:solidFill>
              </a:defRPr>
            </a:pPr>
            <a:r>
              <a:t>• F1-Score: 0.2615 (Harmonic mean of precision &amp; recall)</a:t>
            </a:r>
          </a:p>
          <a:p>
            <a:pPr>
              <a:spcBef>
                <a:spcPts val="700"/>
              </a:spcBef>
              <a:defRPr sz="1200">
                <a:solidFill>
                  <a:srgbClr val="475569"/>
                </a:solidFill>
              </a:defRPr>
            </a:pPr>
            <a:r>
              <a:t>• ROC-AUC Score: 0.6539 (Area under receiver operating characteristic)</a:t>
            </a:r>
          </a:p>
          <a:p>
            <a:pPr>
              <a:spcBef>
                <a:spcPts val="700"/>
              </a:spcBef>
              <a:defRPr sz="1200">
                <a:solidFill>
                  <a:srgbClr val="475569"/>
                </a:solidFill>
              </a:defRPr>
            </a:pPr>
            <a:r>
              <a:t>• Class Weighting Strategy: Utilized class_weight='balanced' in LogisticRegression(solver='lbfgs') to penalize minority misclassifications inversely proportional to class frequencies.</a:t>
            </a:r>
          </a:p>
          <a:p>
            <a:pPr>
              <a:spcBef>
                <a:spcPts val="700"/>
              </a:spcBef>
              <a:defRPr sz="1200">
                <a:solidFill>
                  <a:srgbClr val="475569"/>
                </a:solidFill>
              </a:defRPr>
            </a:pPr>
            <a:r>
              <a:t>• Clinical Utility: Linear baseline successfully captures over 54% of vulnerable patients facing readmission, providing an interpretable odds-ratio benchmark.</a:t>
            </a:r>
          </a:p>
        </p:txBody>
      </p:sp>
      <p:pic>
        <p:nvPicPr>
          <p:cNvPr id="4" name="Picture 3" descr="Confusion_Matrix.png"/>
          <p:cNvPicPr>
            <a:picLocks noChangeAspect="1"/>
          </p:cNvPicPr>
          <p:nvPr/>
        </p:nvPicPr>
        <p:blipFill>
          <a:blip r:embed="rId2"/>
          <a:stretch>
            <a:fillRect/>
          </a:stretch>
        </p:blipFill>
        <p:spPr>
          <a:xfrm>
            <a:off x="6217920" y="1463040"/>
            <a:ext cx="5242255" cy="43685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CO2: SOFTMAX MULTI-CLASS CLASSIFICATION</a:t>
            </a:r>
          </a:p>
          <a:p>
            <a:pPr>
              <a:defRPr sz="2000" b="1">
                <a:solidFill>
                  <a:srgbClr val="0F172A"/>
                </a:solidFill>
              </a:defRPr>
            </a:pPr>
            <a:r>
              <a:t>Multinomial Logistic Regression (3-Class Academic Model)</a:t>
            </a:r>
          </a:p>
        </p:txBody>
      </p:sp>
      <p:sp>
        <p:nvSpPr>
          <p:cNvPr id="3" name="Rectangle 2"/>
          <p:cNvSpPr/>
          <p:nvPr/>
        </p:nvSpPr>
        <p:spPr>
          <a:xfrm>
            <a:off x="731520" y="1463040"/>
            <a:ext cx="10728655"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a:lstStyle/>
          <a:p>
            <a:pPr algn="ctr">
              <a:defRPr sz="1600" b="1">
                <a:solidFill>
                  <a:srgbClr val="0F172A"/>
                </a:solidFill>
              </a:defRPr>
            </a:pPr>
            <a:r>
              <a:t>Multiclass Softmax Formulation (Multinomial_Logistic_Regre_for_Multiclas.py):</a:t>
            </a:r>
          </a:p>
          <a:p>
            <a:pPr>
              <a:spcBef>
                <a:spcPts val="800"/>
              </a:spcBef>
              <a:defRPr sz="1200">
                <a:solidFill>
                  <a:srgbClr val="475569"/>
                </a:solidFill>
              </a:defRPr>
            </a:pPr>
            <a:r>
              <a:t>• Original 3-Class Categorical Target: The raw UCI readmission target includes 3 distinct clinical outcomes: 'NO' (No readmission), '&gt;30' (Readmitted after 30 days), and '&lt;30' (High-risk readmission within 30 days).</a:t>
            </a:r>
          </a:p>
          <a:p>
            <a:pPr>
              <a:spcBef>
                <a:spcPts val="800"/>
              </a:spcBef>
              <a:defRPr sz="1200">
                <a:solidFill>
                  <a:srgbClr val="475569"/>
                </a:solidFill>
              </a:defRPr>
            </a:pPr>
            <a:r>
              <a:t>• Mathematical Formulation: Applies Softmax activation: P(y=k|x) = exp(w_k^T x) / sum_j exp(w_j^T x), outputting a probability simplex over all 3 mutually exclusive states.</a:t>
            </a:r>
          </a:p>
          <a:p>
            <a:pPr>
              <a:spcBef>
                <a:spcPts val="800"/>
              </a:spcBef>
              <a:defRPr sz="1200">
                <a:solidFill>
                  <a:srgbClr val="475569"/>
                </a:solidFill>
              </a:defRPr>
            </a:pPr>
            <a:r>
              <a:t>• Verified Holdout Evaluation: Evaluated on 10,000 encounters: Overall Accuracy = 57.00%, Macro Precision = 0.4848, Macro Recall = 0.3868, Macro F1-Score = 0.3570.</a:t>
            </a:r>
          </a:p>
          <a:p>
            <a:pPr>
              <a:spcBef>
                <a:spcPts val="800"/>
              </a:spcBef>
              <a:defRPr sz="1200">
                <a:solidFill>
                  <a:srgbClr val="475569"/>
                </a:solidFill>
              </a:defRPr>
            </a:pPr>
            <a:r>
              <a:t>• Per-Class Breakdown: Class '&lt;30' achieved F1 = 0.71 (Recall = 89%), Class '&gt;30' achieved F1 = 0.34 (Recall = 26%), and Class 'NO' achieved F1 = 0.03 (severely confused with &gt;30).</a:t>
            </a:r>
          </a:p>
          <a:p>
            <a:pPr>
              <a:spcBef>
                <a:spcPts val="800"/>
              </a:spcBef>
              <a:defRPr sz="1200">
                <a:solidFill>
                  <a:srgbClr val="475569"/>
                </a:solidFill>
              </a:defRPr>
            </a:pPr>
            <a:r>
              <a:t>• Academic Distinction &amp; Deployment Choice: While 3-class multinomial modeling provides academic insight into hospital discharge stages, clinical protocols specifically require binary triage: identifying whether a patient is at risk of 30-day readmission (YES vs NO). Hence, our deployment champion is optimized for binary 30-day risk.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CO3: TREE SUPERVISED LEARNING</a:t>
            </a:r>
          </a:p>
          <a:p>
            <a:pPr>
              <a:defRPr sz="2000" b="1">
                <a:solidFill>
                  <a:srgbClr val="0F172A"/>
                </a:solidFill>
              </a:defRPr>
            </a:pPr>
            <a:r>
              <a:t>CO3: Tree-Based Classifiers — Decision Tree &amp; Ensembles</a:t>
            </a:r>
          </a:p>
        </p:txBody>
      </p:sp>
      <p:sp>
        <p:nvSpPr>
          <p:cNvPr id="3" name="Rectangle 2"/>
          <p:cNvSpPr/>
          <p:nvPr/>
        </p:nvSpPr>
        <p:spPr>
          <a:xfrm>
            <a:off x="731520" y="1463040"/>
            <a:ext cx="530352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defRPr sz="1500" b="1">
                <a:solidFill>
                  <a:srgbClr val="0F172A"/>
                </a:solidFill>
              </a:defRPr>
            </a:pPr>
            <a:r>
              <a:t>Comparative Tree Architecture Analysis:</a:t>
            </a:r>
          </a:p>
          <a:p>
            <a:pPr>
              <a:spcBef>
                <a:spcPts val="700"/>
              </a:spcBef>
              <a:defRPr sz="1100">
                <a:solidFill>
                  <a:srgbClr val="475569"/>
                </a:solidFill>
              </a:defRPr>
            </a:pPr>
            <a:r>
              <a:t>• Decision Tree (Decision_Tree_Classifier_M3.py): Recursive binary splitting via Gini impurity. Evaluated depths [3, 5, 8, 10, 15, None]. Optimal depth = 10 with balanced weights: Accuracy = 59.95%, Recall = 59.27%, F1 = 0.2538, ROC-AUC = 0.6158.</a:t>
            </a:r>
          </a:p>
          <a:p>
            <a:pPr>
              <a:spcBef>
                <a:spcPts val="700"/>
              </a:spcBef>
              <a:defRPr sz="1100">
                <a:solidFill>
                  <a:srgbClr val="475569"/>
                </a:solidFill>
              </a:defRPr>
            </a:pPr>
            <a:r>
              <a:t>• Random Forest Ensemble (Random_Forest_Classifier_M3.py): Constructs 100 decorrelated trees via bootstrap aggregating (bagging) and random subspace feature splits (mtry = sqrt(p)). Accuracy = 70.38%, Precision = 0.1975, Recall = 51.52%, F1 = 0.2856, ROC-AUC = 0.6634.</a:t>
            </a:r>
          </a:p>
          <a:p>
            <a:pPr>
              <a:spcBef>
                <a:spcPts val="700"/>
              </a:spcBef>
              <a:defRPr sz="1100">
                <a:solidFill>
                  <a:srgbClr val="475569"/>
                </a:solidFill>
              </a:defRPr>
            </a:pPr>
            <a:r>
              <a:t>• AdaBoost Classifier (Adaboost_Classifier_M3.py): Sequential boosting with 50 depth-2 decision stumps (learning_rate=0.5). Accuracy = 88.47%, Precision = 0.4000, Recall = 0.70%, F1 = 0.0137, ROC-AUC = 0.6721. Suffers extreme false-negative rate on imbalanced data.</a:t>
            </a:r>
          </a:p>
          <a:p>
            <a:pPr>
              <a:spcBef>
                <a:spcPts val="700"/>
              </a:spcBef>
              <a:defRPr sz="1100">
                <a:solidFill>
                  <a:srgbClr val="475569"/>
                </a:solidFill>
              </a:defRPr>
            </a:pPr>
            <a:r>
              <a:t>• Core Takeaway: Random Forest balances sensitivity and specificity far superiorly to individual trees or boosting on this imbalanced clinical distribution.</a:t>
            </a:r>
          </a:p>
        </p:txBody>
      </p:sp>
      <p:pic>
        <p:nvPicPr>
          <p:cNvPr id="4" name="Picture 3" descr="Random_Forest_Feature_Importance.png"/>
          <p:cNvPicPr>
            <a:picLocks noChangeAspect="1"/>
          </p:cNvPicPr>
          <p:nvPr/>
        </p:nvPicPr>
        <p:blipFill>
          <a:blip r:embed="rId2"/>
          <a:stretch>
            <a:fillRect/>
          </a:stretch>
        </p:blipFill>
        <p:spPr>
          <a:xfrm>
            <a:off x="6217920" y="1463040"/>
            <a:ext cx="5242255" cy="29123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CO3: EMPIRICAL MODEL SELECTION</a:t>
            </a:r>
          </a:p>
          <a:p>
            <a:pPr>
              <a:defRPr sz="2000" b="1">
                <a:solidFill>
                  <a:srgbClr val="0F172A"/>
                </a:solidFill>
              </a:defRPr>
            </a:pPr>
            <a:r>
              <a:t>Empirical Multi-Model Benchmark &amp; Champion Selection</a:t>
            </a:r>
          </a:p>
        </p:txBody>
      </p:sp>
      <p:sp>
        <p:nvSpPr>
          <p:cNvPr id="3" name="Rectangle 2"/>
          <p:cNvSpPr/>
          <p:nvPr/>
        </p:nvSpPr>
        <p:spPr>
          <a:xfrm>
            <a:off x="731520" y="1463040"/>
            <a:ext cx="548640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400" b="1">
                <a:solidFill>
                  <a:srgbClr val="0F172A"/>
                </a:solidFill>
              </a:defRPr>
            </a:pPr>
            <a:r>
              <a:t>Verified Holdout Benchmark Table (10,000 Records):</a:t>
            </a:r>
          </a:p>
          <a:p>
            <a:pPr>
              <a:spcBef>
                <a:spcPts val="500"/>
              </a:spcBef>
              <a:defRPr sz="1100" b="1">
                <a:solidFill>
                  <a:srgbClr val="0F172A"/>
                </a:solidFill>
              </a:defRPr>
            </a:pPr>
            <a:r>
              <a:t>Model                | Accuracy | Recall   | F1-Score | ROC-AUC</a:t>
            </a:r>
          </a:p>
          <a:p>
            <a:pPr>
              <a:spcBef>
                <a:spcPts val="500"/>
              </a:spcBef>
              <a:defRPr sz="1100" b="0">
                <a:solidFill>
                  <a:srgbClr val="475569"/>
                </a:solidFill>
              </a:defRPr>
            </a:pPr>
            <a:r>
              <a:t>Logistic Regression  | 64.87%   | 54.13%   | 0.2615   | 0.6539</a:t>
            </a:r>
          </a:p>
          <a:p>
            <a:pPr>
              <a:spcBef>
                <a:spcPts val="500"/>
              </a:spcBef>
              <a:defRPr sz="1100" b="0">
                <a:solidFill>
                  <a:srgbClr val="475569"/>
                </a:solidFill>
              </a:defRPr>
            </a:pPr>
            <a:r>
              <a:t>Decision Tree (d=10) | 59.95%   | 59.27%   | 0.2538   | 0.6158</a:t>
            </a:r>
          </a:p>
          <a:p>
            <a:pPr>
              <a:spcBef>
                <a:spcPts val="500"/>
              </a:spcBef>
              <a:defRPr sz="1100" b="1">
                <a:solidFill>
                  <a:srgbClr val="0D9488"/>
                </a:solidFill>
              </a:defRPr>
            </a:pPr>
            <a:r>
              <a:t>Random Forest (100t) | 70.38%   | 51.52%   | 0.2856   | 0.6634</a:t>
            </a:r>
          </a:p>
          <a:p>
            <a:pPr>
              <a:spcBef>
                <a:spcPts val="500"/>
              </a:spcBef>
              <a:defRPr sz="1100" b="0">
                <a:solidFill>
                  <a:srgbClr val="475569"/>
                </a:solidFill>
              </a:defRPr>
            </a:pPr>
            <a:r>
              <a:t>AdaBoost (50 rounds) | 88.47%   | 0.70%    | 0.0137   | 0.6721</a:t>
            </a:r>
          </a:p>
          <a:p>
            <a:pPr>
              <a:spcBef>
                <a:spcPts val="1200"/>
              </a:spcBef>
              <a:defRPr sz="1300" b="1">
                <a:solidFill>
                  <a:srgbClr val="1E3A8A"/>
                </a:solidFill>
              </a:defRPr>
            </a:pPr>
            <a:r>
              <a:t>CHAMPION MODEL SELECTION RATIONALE:</a:t>
            </a:r>
          </a:p>
          <a:p>
            <a:pPr>
              <a:spcBef>
                <a:spcPts val="400"/>
              </a:spcBef>
              <a:defRPr sz="1100">
                <a:solidFill>
                  <a:srgbClr val="475569"/>
                </a:solidFill>
              </a:defRPr>
            </a:pPr>
            <a:r>
              <a:t>• Selected Champion: Random Forest Classifier</a:t>
            </a:r>
            <a:br/>
            <a:r>
              <a:t>• Criterion: Highest F1-Score (0.2856) &amp; ROC-AUC (0.6634) on holdout data.</a:t>
            </a:r>
            <a:br/>
            <a:r>
              <a:t>• Clinical Justification: In hospital readmission, raw accuracy is deceptive—AdaBoost scored 88.5% accuracy but failed to detect 99.3% of readmissions! Random Forest captures over half of all high-risk patients while keeping false alarms manageable.</a:t>
            </a:r>
          </a:p>
        </p:txBody>
      </p:sp>
      <p:pic>
        <p:nvPicPr>
          <p:cNvPr id="4" name="Picture 3" descr="model_comparison.png"/>
          <p:cNvPicPr>
            <a:picLocks noChangeAspect="1"/>
          </p:cNvPicPr>
          <p:nvPr/>
        </p:nvPicPr>
        <p:blipFill>
          <a:blip r:embed="rId2"/>
          <a:stretch>
            <a:fillRect/>
          </a:stretch>
        </p:blipFill>
        <p:spPr>
          <a:xfrm>
            <a:off x="6400800" y="1463040"/>
            <a:ext cx="5059375" cy="252968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MODULE M4: UNSUPERVISED LEARNING</a:t>
            </a:r>
          </a:p>
          <a:p>
            <a:pPr>
              <a:defRPr sz="2000" b="1">
                <a:solidFill>
                  <a:srgbClr val="0F172A"/>
                </a:solidFill>
              </a:defRPr>
            </a:pPr>
            <a:r>
              <a:t>Module M4: Unsupervised Patient Phenotyping &amp; Segmentation</a:t>
            </a:r>
          </a:p>
        </p:txBody>
      </p:sp>
      <p:sp>
        <p:nvSpPr>
          <p:cNvPr id="3" name="Rectangle 2"/>
          <p:cNvSpPr/>
          <p:nvPr/>
        </p:nvSpPr>
        <p:spPr>
          <a:xfrm>
            <a:off x="731520" y="1463040"/>
            <a:ext cx="530352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defRPr sz="1500" b="1">
                <a:solidFill>
                  <a:srgbClr val="0F172A"/>
                </a:solidFill>
              </a:defRPr>
            </a:pPr>
            <a:r>
              <a:t>Unsupervised Exploration Overview (Module M4):</a:t>
            </a:r>
          </a:p>
          <a:p>
            <a:pPr>
              <a:spcBef>
                <a:spcPts val="700"/>
              </a:spcBef>
              <a:defRPr sz="1100">
                <a:solidFill>
                  <a:srgbClr val="475569"/>
                </a:solidFill>
              </a:defRPr>
            </a:pPr>
            <a:r>
              <a:t>• Academic Distinction: Clustering is unsupervised patient phenotyping—it does NOT predict Readmission_30_Days directly, but uncovers latent clinical patient subgroups.</a:t>
            </a:r>
          </a:p>
          <a:p>
            <a:pPr>
              <a:spcBef>
                <a:spcPts val="700"/>
              </a:spcBef>
              <a:defRPr sz="1100">
                <a:solidFill>
                  <a:srgbClr val="475569"/>
                </a:solidFill>
              </a:defRPr>
            </a:pPr>
            <a:r>
              <a:t>• DBSCAN Density-Based (DBSCAN_Healthcare_M4.py): eps=1.2, min_samples=10: Identified 1 massive dense core cluster (98.96%) and 52 clinical outliers/noise encounters (1.04%) with extreme lab test volumes and stay durations.</a:t>
            </a:r>
          </a:p>
          <a:p>
            <a:pPr>
              <a:spcBef>
                <a:spcPts val="700"/>
              </a:spcBef>
              <a:defRPr sz="1100">
                <a:solidFill>
                  <a:srgbClr val="475569"/>
                </a:solidFill>
              </a:defRPr>
            </a:pPr>
            <a:r>
              <a:t>• Hierarchical Linkage (Hierarchical_Clustering_M4.py): Computed Ward agglomerative linkage and rendered clinical dendrogram on 1,000 patients (Silhouette = 0.1532), identifying 3 hierarchical patient tiers.</a:t>
            </a:r>
          </a:p>
          <a:p>
            <a:pPr>
              <a:spcBef>
                <a:spcPts val="700"/>
              </a:spcBef>
              <a:defRPr sz="1100">
                <a:solidFill>
                  <a:srgbClr val="475569"/>
                </a:solidFill>
              </a:defRPr>
            </a:pPr>
            <a:r>
              <a:t>• Principal Component Analysis (PCA_Healthcare_M4.py): Decomposed 8 continuous features: PC1 captures 25.46% variance (inpatient stay intensity), PC2 captures 17.03% (emergency visits). Top 2 components retain 42.49% total variance.</a:t>
            </a:r>
          </a:p>
        </p:txBody>
      </p:sp>
      <p:pic>
        <p:nvPicPr>
          <p:cNvPr id="4" name="Picture 3" descr="PCA_2D.png"/>
          <p:cNvPicPr>
            <a:picLocks noChangeAspect="1"/>
          </p:cNvPicPr>
          <p:nvPr/>
        </p:nvPicPr>
        <p:blipFill>
          <a:blip r:embed="rId2"/>
          <a:stretch>
            <a:fillRect/>
          </a:stretch>
        </p:blipFill>
        <p:spPr>
          <a:xfrm>
            <a:off x="6217920" y="1463040"/>
            <a:ext cx="5242255" cy="349483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MODULE M4: K-MEANS SEGMENTATION</a:t>
            </a:r>
          </a:p>
          <a:p>
            <a:pPr>
              <a:defRPr sz="2000" b="1">
                <a:solidFill>
                  <a:srgbClr val="0F172A"/>
                </a:solidFill>
              </a:defRPr>
            </a:pPr>
            <a:r>
              <a:t>K-Means Patient Phenotyping, Elbow &amp; Silhouette Analysis</a:t>
            </a:r>
          </a:p>
        </p:txBody>
      </p:sp>
      <p:sp>
        <p:nvSpPr>
          <p:cNvPr id="3" name="Rectangle 2"/>
          <p:cNvSpPr/>
          <p:nvPr/>
        </p:nvSpPr>
        <p:spPr>
          <a:xfrm>
            <a:off x="731520" y="1463040"/>
            <a:ext cx="5303520"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400" b="1">
                <a:solidFill>
                  <a:srgbClr val="0F172A"/>
                </a:solidFill>
              </a:defRPr>
            </a:pPr>
            <a:r>
              <a:t>Empirical Cluster Quality Analysis (K = 2 to 10):</a:t>
            </a:r>
          </a:p>
          <a:p>
            <a:pPr>
              <a:spcBef>
                <a:spcPts val="600"/>
              </a:spcBef>
              <a:defRPr sz="1100">
                <a:solidFill>
                  <a:srgbClr val="475569"/>
                </a:solidFill>
              </a:defRPr>
            </a:pPr>
            <a:r>
              <a:t>• Elbow Method (Inertia WCSS): K=2 (Inertia=186k), K=3 (156k), K=4 (138k), K=5 (123k). Pronounced elbow inflection observed at K=3.</a:t>
            </a:r>
          </a:p>
          <a:p>
            <a:pPr>
              <a:spcBef>
                <a:spcPts val="600"/>
              </a:spcBef>
              <a:defRPr sz="1100">
                <a:solidFill>
                  <a:srgbClr val="475569"/>
                </a:solidFill>
              </a:defRPr>
            </a:pPr>
            <a:r>
              <a:t>• Silhouette Analysis: Mean silhouette coefficient: K=2 (0.2606), K=3 (0.2072), K=4 (0.1989), K=5 (0.2103). K=3 provides optimal cohesion and clinical interpretability.</a:t>
            </a:r>
          </a:p>
          <a:p>
            <a:pPr>
              <a:spcBef>
                <a:spcPts val="600"/>
              </a:spcBef>
              <a:defRPr sz="1100">
                <a:solidFill>
                  <a:srgbClr val="475569"/>
                </a:solidFill>
              </a:defRPr>
            </a:pPr>
            <a:r>
              <a:t>• Cluster 0: Low-Acuity Stay (36.6%): Mean stay: 3.16 days | Lab tests: 38.7 | Medications: 11.6 | Diagnoses: 4.70. Routine short-stay diabetic patients.</a:t>
            </a:r>
          </a:p>
          <a:p>
            <a:pPr>
              <a:spcBef>
                <a:spcPts val="600"/>
              </a:spcBef>
              <a:defRPr sz="1100">
                <a:solidFill>
                  <a:srgbClr val="475569"/>
                </a:solidFill>
              </a:defRPr>
            </a:pPr>
            <a:r>
              <a:t>• Cluster 1: Multi-Diagnostic Elderly (41.2%): Mean stay: 3.77 days | Lab tests: 38.6 | Medications: 13.6 | Diagnoses: 8.36. High comorbidity index, moderate stay duration.</a:t>
            </a:r>
          </a:p>
          <a:p>
            <a:pPr>
              <a:spcBef>
                <a:spcPts val="600"/>
              </a:spcBef>
              <a:defRPr sz="1100">
                <a:solidFill>
                  <a:srgbClr val="475569"/>
                </a:solidFill>
              </a:defRPr>
            </a:pPr>
            <a:r>
              <a:t>• Cluster 2: High-Complexity Inpatient (22.2%): Mean stay: 8.32 days | Lab tests: 55.2 | Procedures: 2.99 | Medications: 24.4. Severely ill diabetic cohort with prolonged hospitalization.</a:t>
            </a:r>
          </a:p>
        </p:txBody>
      </p:sp>
      <p:pic>
        <p:nvPicPr>
          <p:cNvPr id="4" name="Picture 3" descr="kmeans_clusters.png"/>
          <p:cNvPicPr>
            <a:picLocks noChangeAspect="1"/>
          </p:cNvPicPr>
          <p:nvPr/>
        </p:nvPicPr>
        <p:blipFill>
          <a:blip r:embed="rId2"/>
          <a:stretch>
            <a:fillRect/>
          </a:stretch>
        </p:blipFill>
        <p:spPr>
          <a:xfrm>
            <a:off x="6217920" y="1463040"/>
            <a:ext cx="5242255" cy="349483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SYSTEM DEPLOYMENT &amp; ENGINEERING</a:t>
            </a:r>
          </a:p>
          <a:p>
            <a:pPr>
              <a:defRPr sz="2000" b="1">
                <a:solidFill>
                  <a:srgbClr val="0F172A"/>
                </a:solidFill>
              </a:defRPr>
            </a:pPr>
            <a:r>
              <a:t>VitalSign Flask Web Deployment &amp; REST API Serving</a:t>
            </a:r>
          </a:p>
        </p:txBody>
      </p:sp>
      <p:sp>
        <p:nvSpPr>
          <p:cNvPr id="3" name="Rectangle 2"/>
          <p:cNvSpPr/>
          <p:nvPr/>
        </p:nvSpPr>
        <p:spPr>
          <a:xfrm>
            <a:off x="731520" y="1463040"/>
            <a:ext cx="10728655" cy="48463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a:lstStyle/>
          <a:p>
            <a:pPr algn="ctr">
              <a:defRPr sz="1600" b="1">
                <a:solidFill>
                  <a:srgbClr val="0F172A"/>
                </a:solidFill>
              </a:defRPr>
            </a:pPr>
            <a:r>
              <a:t>Production Web Architecture (app.py):</a:t>
            </a:r>
          </a:p>
          <a:p>
            <a:pPr>
              <a:spcBef>
                <a:spcPts val="700"/>
              </a:spcBef>
              <a:defRPr sz="1200">
                <a:solidFill>
                  <a:srgbClr val="475569"/>
                </a:solidFill>
              </a:defRPr>
            </a:pPr>
            <a:r>
              <a:t>• Web Framework &amp; Serving: Built with Python Flask, Jinja2 templating, and Bootstrap 5 responsive UI. Operates at http://127.0.0.1:5000.</a:t>
            </a:r>
          </a:p>
          <a:p>
            <a:pPr>
              <a:spcBef>
                <a:spcPts val="700"/>
              </a:spcBef>
              <a:defRPr sz="1200">
                <a:solidFill>
                  <a:srgbClr val="475569"/>
                </a:solidFill>
              </a:defRPr>
            </a:pPr>
            <a:r>
              <a:t>• Verified Deployed Endpoints (All HTTP 200 OK): Clinical Portal (/), Live Dashboard (/dashboard), Dataset Explorer (/dataset), Interactive EDA (/visualization), Model Comparison (/models), Clinical Prediction Form (/prediction), Batch CSV Predictor (/batch-predict), and REST API (/api/predict).</a:t>
            </a:r>
          </a:p>
          <a:p>
            <a:pPr>
              <a:spcBef>
                <a:spcPts val="700"/>
              </a:spcBef>
              <a:defRPr sz="1200">
                <a:solidFill>
                  <a:srgbClr val="475569"/>
                </a:solidFill>
              </a:defRPr>
            </a:pPr>
            <a:r>
              <a:t>• Model Artifacts &amp; Pipelines: Loads serialized Champion Random Forest pipeline (models/vitalsign_readmission_model.pkl, 9.0 MB) and registered metadata (models/model_metadata.pkl). Zero retraining overhead at runtime.</a:t>
            </a:r>
          </a:p>
          <a:p>
            <a:pPr>
              <a:spcBef>
                <a:spcPts val="700"/>
              </a:spcBef>
              <a:defRPr sz="1200">
                <a:solidFill>
                  <a:srgbClr val="475569"/>
                </a:solidFill>
              </a:defRPr>
            </a:pPr>
            <a:r>
              <a:t>• Interactive Patient Risk Scoring: Clinicians input patient age, vitals, prior admissions, lab count, and medication adjustments. System executes instant inference in under 45 milliseconds.</a:t>
            </a:r>
          </a:p>
          <a:p>
            <a:pPr>
              <a:spcBef>
                <a:spcPts val="700"/>
              </a:spcBef>
              <a:defRPr sz="1200">
                <a:solidFill>
                  <a:srgbClr val="475569"/>
                </a:solidFill>
              </a:defRPr>
            </a:pPr>
            <a:r>
              <a:t>• Tri-Tier Risk Stratification: Outputs quantitative probability (0-100%) and categorizes risk: Low Risk (&lt;30%), Moderate Risk (30-50%), and High Risk (&gt;=50%) with tailored clinical recommendations.</a:t>
            </a:r>
          </a:p>
          <a:p>
            <a:pPr>
              <a:spcBef>
                <a:spcPts val="700"/>
              </a:spcBef>
              <a:defRPr sz="1200">
                <a:solidFill>
                  <a:srgbClr val="475569"/>
                </a:solidFill>
              </a:defRPr>
            </a:pPr>
            <a:r>
              <a:t>• Educational Disclaimer Guardrail: Every web page and JSON API response includes an explicit medical disclaimer: 'This application is an educational prediction system and not a medical diagnosis tool.'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CO1: CLINICAL PREDICTION TRACE</a:t>
            </a:r>
          </a:p>
          <a:p>
            <a:pPr>
              <a:defRPr sz="2000" b="1">
                <a:solidFill>
                  <a:srgbClr val="0F172A"/>
                </a:solidFill>
              </a:defRPr>
            </a:pPr>
            <a:r>
              <a:t>CO1: End-to-End Prediction Request Trace (ML_Lifecycle_CO1.py)</a:t>
            </a:r>
          </a:p>
        </p:txBody>
      </p:sp>
      <p:sp>
        <p:nvSpPr>
          <p:cNvPr id="3" name="Rectangle 2"/>
          <p:cNvSpPr/>
          <p:nvPr/>
        </p:nvSpPr>
        <p:spPr>
          <a:xfrm>
            <a:off x="731520" y="1463040"/>
            <a:ext cx="5272430" cy="1115568"/>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1. Clinician Input</a:t>
            </a:r>
          </a:p>
          <a:p>
            <a:pPr>
              <a:spcBef>
                <a:spcPts val="300"/>
              </a:spcBef>
              <a:defRPr sz="1000">
                <a:solidFill>
                  <a:srgbClr val="475569"/>
                </a:solidFill>
              </a:defRPr>
            </a:pPr>
            <a:r>
              <a:t>Patient #86240259: Age [70-80), Female, 9 days stay, 54 lab tests, 2 prior inpatients, Insulin 'Down'.</a:t>
            </a:r>
          </a:p>
        </p:txBody>
      </p:sp>
      <p:sp>
        <p:nvSpPr>
          <p:cNvPr id="4" name="Rectangle 3"/>
          <p:cNvSpPr/>
          <p:nvPr/>
        </p:nvSpPr>
        <p:spPr>
          <a:xfrm>
            <a:off x="6186830" y="1463040"/>
            <a:ext cx="5272430" cy="1115568"/>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2. Request Ingestion</a:t>
            </a:r>
          </a:p>
          <a:p>
            <a:pPr>
              <a:spcBef>
                <a:spcPts val="300"/>
              </a:spcBef>
              <a:defRPr sz="1000">
                <a:solidFill>
                  <a:srgbClr val="475569"/>
                </a:solidFill>
              </a:defRPr>
            </a:pPr>
            <a:r>
              <a:t>Flask receives POST /api/predict payload; deserializes into pandas DataFrame (41 raw predictors).</a:t>
            </a:r>
          </a:p>
        </p:txBody>
      </p:sp>
      <p:sp>
        <p:nvSpPr>
          <p:cNvPr id="5" name="Rectangle 4"/>
          <p:cNvSpPr/>
          <p:nvPr/>
        </p:nvSpPr>
        <p:spPr>
          <a:xfrm>
            <a:off x="731520" y="2697480"/>
            <a:ext cx="5272430" cy="1115568"/>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3. Preprocessing</a:t>
            </a:r>
          </a:p>
          <a:p>
            <a:pPr>
              <a:spcBef>
                <a:spcPts val="300"/>
              </a:spcBef>
              <a:defRPr sz="1000">
                <a:solidFill>
                  <a:srgbClr val="475569"/>
                </a:solidFill>
              </a:defRPr>
            </a:pPr>
            <a:r>
              <a:t>ColumnTransformer applies Median imputation to numericals and OneHotEncoder to demographics &amp; meds.</a:t>
            </a:r>
          </a:p>
        </p:txBody>
      </p:sp>
      <p:sp>
        <p:nvSpPr>
          <p:cNvPr id="6" name="Rectangle 5"/>
          <p:cNvSpPr/>
          <p:nvPr/>
        </p:nvSpPr>
        <p:spPr>
          <a:xfrm>
            <a:off x="6186830" y="2697480"/>
            <a:ext cx="5272430" cy="1115568"/>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4. Pipeline Transform</a:t>
            </a:r>
          </a:p>
          <a:p>
            <a:pPr>
              <a:spcBef>
                <a:spcPts val="300"/>
              </a:spcBef>
              <a:defRPr sz="1000">
                <a:solidFill>
                  <a:srgbClr val="475569"/>
                </a:solidFill>
              </a:defRPr>
            </a:pPr>
            <a:r>
              <a:t>Transforms raw clinical features into dense feature space matching fitted training dimensions.</a:t>
            </a:r>
          </a:p>
        </p:txBody>
      </p:sp>
      <p:sp>
        <p:nvSpPr>
          <p:cNvPr id="7" name="Rectangle 6"/>
          <p:cNvSpPr/>
          <p:nvPr/>
        </p:nvSpPr>
        <p:spPr>
          <a:xfrm>
            <a:off x="731520" y="3931920"/>
            <a:ext cx="5272430" cy="1115568"/>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5. Model Inference</a:t>
            </a:r>
          </a:p>
          <a:p>
            <a:pPr>
              <a:spcBef>
                <a:spcPts val="300"/>
              </a:spcBef>
              <a:defRPr sz="1000">
                <a:solidFill>
                  <a:srgbClr val="475569"/>
                </a:solidFill>
              </a:defRPr>
            </a:pPr>
            <a:r>
              <a:t>Champion Random Forest pipeline executes .predict() and .predict_proba() on holdout sample.</a:t>
            </a:r>
          </a:p>
        </p:txBody>
      </p:sp>
      <p:sp>
        <p:nvSpPr>
          <p:cNvPr id="8" name="Rectangle 7"/>
          <p:cNvSpPr/>
          <p:nvPr/>
        </p:nvSpPr>
        <p:spPr>
          <a:xfrm>
            <a:off x="6186830" y="3931920"/>
            <a:ext cx="5272430" cy="1115568"/>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6. Probabilistic Output</a:t>
            </a:r>
          </a:p>
          <a:p>
            <a:pPr>
              <a:spcBef>
                <a:spcPts val="300"/>
              </a:spcBef>
              <a:defRPr sz="1000">
                <a:solidFill>
                  <a:srgbClr val="475569"/>
                </a:solidFill>
              </a:defRPr>
            </a:pPr>
            <a:r>
              <a:t>Computes readmission probability: P(Readmit &lt;30d) = 69.99% -&gt; Binary Prediction = 1 (HIGH RISK).</a:t>
            </a:r>
          </a:p>
        </p:txBody>
      </p:sp>
      <p:sp>
        <p:nvSpPr>
          <p:cNvPr id="9" name="Rectangle 8"/>
          <p:cNvSpPr/>
          <p:nvPr/>
        </p:nvSpPr>
        <p:spPr>
          <a:xfrm>
            <a:off x="731520" y="5166360"/>
            <a:ext cx="5272430" cy="1115568"/>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7. Clinical Action Protocol</a:t>
            </a:r>
          </a:p>
          <a:p>
            <a:pPr>
              <a:spcBef>
                <a:spcPts val="300"/>
              </a:spcBef>
              <a:defRPr sz="1000">
                <a:solidFill>
                  <a:srgbClr val="475569"/>
                </a:solidFill>
              </a:defRPr>
            </a:pPr>
            <a:r>
              <a:t>System triggers priority protocol: 7-day follow-up appointment, diabetes medication reconciliation.</a:t>
            </a:r>
          </a:p>
        </p:txBody>
      </p:sp>
      <p:sp>
        <p:nvSpPr>
          <p:cNvPr id="10" name="Rectangle 9"/>
          <p:cNvSpPr/>
          <p:nvPr/>
        </p:nvSpPr>
        <p:spPr>
          <a:xfrm>
            <a:off x="6186830" y="5166360"/>
            <a:ext cx="5272430" cy="1115568"/>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defRPr sz="1200" b="1">
                <a:solidFill>
                  <a:srgbClr val="0F172A"/>
                </a:solidFill>
              </a:defRPr>
            </a:pPr>
            <a:r>
              <a:t>8. Telemetry &amp; Monitoring</a:t>
            </a:r>
          </a:p>
          <a:p>
            <a:pPr>
              <a:spcBef>
                <a:spcPts val="300"/>
              </a:spcBef>
              <a:defRPr sz="1000">
                <a:solidFill>
                  <a:srgbClr val="475569"/>
                </a:solidFill>
              </a:defRPr>
            </a:pPr>
            <a:r>
              <a:t>Logs inference timestamp, input hash, latency, and probability to outputs/Lifecycle/ml_lifecycle_report.txt.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914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000" b="1">
                <a:solidFill>
                  <a:srgbClr val="0D9488"/>
                </a:solidFill>
              </a:defRPr>
            </a:pPr>
            <a:r>
              <a:t>PROJECT SYNTHESIS</a:t>
            </a:r>
          </a:p>
          <a:p>
            <a:pPr>
              <a:defRPr sz="2000" b="1">
                <a:solidFill>
                  <a:srgbClr val="0F172A"/>
                </a:solidFill>
              </a:defRPr>
            </a:pPr>
            <a:r>
              <a:t>Project Synthesis: Results, Conclusion &amp; Future Scope</a:t>
            </a:r>
          </a:p>
        </p:txBody>
      </p:sp>
      <p:sp>
        <p:nvSpPr>
          <p:cNvPr id="3" name="Rectangle 2"/>
          <p:cNvSpPr/>
          <p:nvPr/>
        </p:nvSpPr>
        <p:spPr>
          <a:xfrm>
            <a:off x="731520" y="1463040"/>
            <a:ext cx="3429000" cy="484632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500" b="1">
                <a:solidFill>
                  <a:srgbClr val="1E3A8A"/>
                </a:solidFill>
              </a:defRPr>
            </a:pPr>
            <a:r>
              <a:t>PROJECT RESULTS</a:t>
            </a:r>
          </a:p>
          <a:p>
            <a:pPr>
              <a:spcBef>
                <a:spcPts val="700"/>
              </a:spcBef>
              <a:defRPr sz="1100">
                <a:solidFill>
                  <a:srgbClr val="475569"/>
                </a:solidFill>
              </a:defRPr>
            </a:pPr>
            <a:r>
              <a:t>• 50,000 encounters sanitized and processed with zero data leakage.</a:t>
            </a:r>
          </a:p>
          <a:p>
            <a:pPr>
              <a:spcBef>
                <a:spcPts val="700"/>
              </a:spcBef>
              <a:defRPr sz="1100">
                <a:solidFill>
                  <a:srgbClr val="475569"/>
                </a:solidFill>
              </a:defRPr>
            </a:pPr>
            <a:r>
              <a:t>• Linear models verified (OLS CFNE vs SGD, Ridge, Lasso, ElasticNet).</a:t>
            </a:r>
          </a:p>
          <a:p>
            <a:pPr>
              <a:spcBef>
                <a:spcPts val="700"/>
              </a:spcBef>
              <a:defRPr sz="1100">
                <a:solidFill>
                  <a:srgbClr val="475569"/>
                </a:solidFill>
              </a:defRPr>
            </a:pPr>
            <a:r>
              <a:t>• Multi-model holdout benchmark executed across 4 algorithms.</a:t>
            </a:r>
          </a:p>
          <a:p>
            <a:pPr>
              <a:spcBef>
                <a:spcPts val="700"/>
              </a:spcBef>
              <a:defRPr sz="1100">
                <a:solidFill>
                  <a:srgbClr val="475569"/>
                </a:solidFill>
              </a:defRPr>
            </a:pPr>
            <a:r>
              <a:t>• Random Forest selected as Champion (F1 = 0.2856, ROC-AUC = 0.6634).</a:t>
            </a:r>
          </a:p>
          <a:p>
            <a:pPr>
              <a:spcBef>
                <a:spcPts val="700"/>
              </a:spcBef>
              <a:defRPr sz="1100">
                <a:solidFill>
                  <a:srgbClr val="475569"/>
                </a:solidFill>
              </a:defRPr>
            </a:pPr>
            <a:r>
              <a:t>• Unsupervised K-Means validated K=3 patient phenotypes.</a:t>
            </a:r>
          </a:p>
          <a:p>
            <a:pPr>
              <a:spcBef>
                <a:spcPts val="700"/>
              </a:spcBef>
              <a:defRPr sz="1100">
                <a:solidFill>
                  <a:srgbClr val="475569"/>
                </a:solidFill>
              </a:defRPr>
            </a:pPr>
            <a:r>
              <a:t>• Production Flask web portal operational with real-time API.</a:t>
            </a:r>
          </a:p>
        </p:txBody>
      </p:sp>
      <p:sp>
        <p:nvSpPr>
          <p:cNvPr id="4" name="Rectangle 3"/>
          <p:cNvSpPr/>
          <p:nvPr/>
        </p:nvSpPr>
        <p:spPr>
          <a:xfrm>
            <a:off x="4379976" y="1463040"/>
            <a:ext cx="3429000" cy="48463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500" b="1">
                <a:solidFill>
                  <a:srgbClr val="0D9488"/>
                </a:solidFill>
              </a:defRPr>
            </a:pPr>
            <a:r>
              <a:t>CONCLUSION</a:t>
            </a:r>
          </a:p>
          <a:p>
            <a:pPr>
              <a:spcBef>
                <a:spcPts val="700"/>
              </a:spcBef>
              <a:defRPr sz="1100">
                <a:solidFill>
                  <a:srgbClr val="475569"/>
                </a:solidFill>
              </a:defRPr>
            </a:pPr>
            <a:r>
              <a:t>• Successfully built an end-to-end healthcare ML system fulfilling CO1, CO2, and CO3.</a:t>
            </a:r>
          </a:p>
          <a:p>
            <a:pPr>
              <a:spcBef>
                <a:spcPts val="700"/>
              </a:spcBef>
              <a:defRPr sz="1100">
                <a:solidFill>
                  <a:srgbClr val="475569"/>
                </a:solidFill>
              </a:defRPr>
            </a:pPr>
            <a:r>
              <a:t>• Demonstrated that F1-score and Recall are far superior to raw accuracy in imbalanced clinical triage.</a:t>
            </a:r>
          </a:p>
          <a:p>
            <a:pPr>
              <a:spcBef>
                <a:spcPts val="700"/>
              </a:spcBef>
              <a:defRPr sz="1100">
                <a:solidFill>
                  <a:srgbClr val="475569"/>
                </a:solidFill>
              </a:defRPr>
            </a:pPr>
            <a:r>
              <a:t>• Prior inpatient history and stay duration are the paramount drivers of 30-day diabetic readmission.</a:t>
            </a:r>
          </a:p>
          <a:p>
            <a:pPr>
              <a:spcBef>
                <a:spcPts val="700"/>
              </a:spcBef>
              <a:defRPr sz="1100">
                <a:solidFill>
                  <a:srgbClr val="475569"/>
                </a:solidFill>
              </a:defRPr>
            </a:pPr>
            <a:r>
              <a:t>• Modular architecture ensures independent reproducibility across all M1–M4 components.</a:t>
            </a:r>
          </a:p>
        </p:txBody>
      </p:sp>
      <p:sp>
        <p:nvSpPr>
          <p:cNvPr id="5" name="Rectangle 4"/>
          <p:cNvSpPr/>
          <p:nvPr/>
        </p:nvSpPr>
        <p:spPr>
          <a:xfrm>
            <a:off x="8028432" y="1463040"/>
            <a:ext cx="3429000" cy="484632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500" b="1">
                <a:solidFill>
                  <a:srgbClr val="1E3A8A"/>
                </a:solidFill>
              </a:defRPr>
            </a:pPr>
            <a:r>
              <a:t>FUTURE SCOPE</a:t>
            </a:r>
          </a:p>
          <a:p>
            <a:pPr>
              <a:spcBef>
                <a:spcPts val="700"/>
              </a:spcBef>
              <a:defRPr sz="1100">
                <a:solidFill>
                  <a:srgbClr val="475569"/>
                </a:solidFill>
              </a:defRPr>
            </a:pPr>
            <a:r>
              <a:t>• Incorporate temporal EHR electronic health records across multiple longitudinal encounters.</a:t>
            </a:r>
          </a:p>
          <a:p>
            <a:pPr>
              <a:spcBef>
                <a:spcPts val="700"/>
              </a:spcBef>
              <a:defRPr sz="1100">
                <a:solidFill>
                  <a:srgbClr val="475569"/>
                </a:solidFill>
              </a:defRPr>
            </a:pPr>
            <a:r>
              <a:t>• Integrate Explainable AI (SHAP / LIME) for patient-specific feature attribution explanations.</a:t>
            </a:r>
          </a:p>
          <a:p>
            <a:pPr>
              <a:spcBef>
                <a:spcPts val="700"/>
              </a:spcBef>
              <a:defRPr sz="1100">
                <a:solidFill>
                  <a:srgbClr val="475569"/>
                </a:solidFill>
              </a:defRPr>
            </a:pPr>
            <a:r>
              <a:t>• Deploy automated concept drift monitoring in live hospital telemetry pipelines.</a:t>
            </a:r>
          </a:p>
          <a:p>
            <a:pPr>
              <a:spcBef>
                <a:spcPts val="700"/>
              </a:spcBef>
              <a:defRPr sz="1100">
                <a:solidFill>
                  <a:srgbClr val="475569"/>
                </a:solidFill>
              </a:defRPr>
            </a:pPr>
            <a:r>
              <a:t>• Conduct formal institutional review and clinical trial validation prior to actual clinical use.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280160"/>
            <a:ext cx="9448495" cy="4297680"/>
          </a:xfrm>
          <a:prstGeom prst="rect">
            <a:avLst/>
          </a:prstGeom>
          <a:solidFill>
            <a:srgbClr val="1E293B"/>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731520" tIns="548640" rIns="731520"/>
          <a:lstStyle/>
          <a:p>
            <a:pPr algn="ctr">
              <a:defRPr sz="3600" b="1">
                <a:solidFill>
                  <a:srgbClr val="FFFFFF"/>
                </a:solidFill>
              </a:defRPr>
            </a:pPr>
            <a:r>
              <a:t>THANK YOU</a:t>
            </a:r>
          </a:p>
          <a:p>
            <a:pPr algn="ctr">
              <a:spcBef>
                <a:spcPts val="1000"/>
              </a:spcBef>
              <a:defRPr sz="1600" b="1">
                <a:solidFill>
                  <a:srgbClr val="0D9488"/>
                </a:solidFill>
              </a:defRPr>
            </a:pPr>
            <a:r>
              <a:t>VITALSIGN: AI-BASED 30-DAY HOSPITAL READMISSION PREDICTION</a:t>
            </a:r>
          </a:p>
          <a:p>
            <a:pPr algn="ctr">
              <a:spcBef>
                <a:spcPts val="1400"/>
              </a:spcBef>
              <a:defRPr sz="1800">
                <a:solidFill>
                  <a:srgbClr val="CBD5E1"/>
                </a:solidFill>
              </a:defRPr>
            </a:pPr>
            <a:r>
              <a:t>Questions, Feedback &amp; Discussion Welcomed</a:t>
            </a:r>
          </a:p>
          <a:p>
            <a:pPr algn="ctr">
              <a:spcBef>
                <a:spcPts val="2400"/>
              </a:spcBef>
              <a:defRPr sz="1100">
                <a:solidFill>
                  <a:srgbClr val="94A3B8"/>
                </a:solidFill>
              </a:defRPr>
            </a:pPr>
            <a:r>
              <a:t>Academic Disclaimer: This project is strictly developed as an academic educational machine learning system for PBL evaluation and is not intended for clinical diagnostic decision-making without certified regulatory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